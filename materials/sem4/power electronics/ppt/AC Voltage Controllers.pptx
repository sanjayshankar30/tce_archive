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7" r:id="rId8"/>
    <p:sldId id="268" r:id="rId9"/>
    <p:sldId id="269" r:id="rId10"/>
    <p:sldId id="270" r:id="rId1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CF34F-2A1C-4EFC-86B4-E78E46F06071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4F176-E740-4F11-A33F-5DCA17192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407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4F176-E740-4F11-A33F-5DCA1719228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45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1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5" dirty="0"/>
              <a:t>DEPT.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5" dirty="0"/>
              <a:t>ELECTRICAL</a:t>
            </a:r>
            <a:r>
              <a:rPr spc="-15" dirty="0"/>
              <a:t> </a:t>
            </a:r>
            <a:r>
              <a:rPr spc="-5" dirty="0"/>
              <a:t>ENGINEERING,</a:t>
            </a:r>
            <a:r>
              <a:rPr spc="-40" dirty="0"/>
              <a:t> </a:t>
            </a:r>
            <a:r>
              <a:rPr spc="-5" dirty="0"/>
              <a:t>COLLEGE</a:t>
            </a:r>
            <a:r>
              <a:rPr spc="-25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5" dirty="0"/>
              <a:t>ENGINEERING</a:t>
            </a:r>
            <a:r>
              <a:rPr spc="-30" dirty="0"/>
              <a:t> </a:t>
            </a:r>
            <a:r>
              <a:rPr spc="-5" dirty="0"/>
              <a:t>TRIVANDRUM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D0A9A-4AC5-4AB9-BF76-6DF6A3F975A6}" type="datetime1">
              <a:rPr lang="en-US" smtClean="0"/>
              <a:t>10/9/2023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614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92240"/>
            <a:ext cx="9144000" cy="365760"/>
          </a:xfrm>
          <a:custGeom>
            <a:avLst/>
            <a:gdLst/>
            <a:ahLst/>
            <a:cxnLst/>
            <a:rect l="l" t="t" r="r" b="b"/>
            <a:pathLst>
              <a:path w="9144000" h="365759">
                <a:moveTo>
                  <a:pt x="9144000" y="0"/>
                </a:moveTo>
                <a:lnTo>
                  <a:pt x="0" y="0"/>
                </a:lnTo>
                <a:lnTo>
                  <a:pt x="0" y="365760"/>
                </a:lnTo>
                <a:lnTo>
                  <a:pt x="9144000" y="365760"/>
                </a:lnTo>
                <a:lnTo>
                  <a:pt x="9144000" y="0"/>
                </a:lnTo>
                <a:close/>
              </a:path>
            </a:pathLst>
          </a:custGeom>
          <a:solidFill>
            <a:srgbClr val="BD5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426708"/>
            <a:ext cx="9144000" cy="66040"/>
          </a:xfrm>
          <a:custGeom>
            <a:avLst/>
            <a:gdLst/>
            <a:ahLst/>
            <a:cxnLst/>
            <a:rect l="l" t="t" r="r" b="b"/>
            <a:pathLst>
              <a:path w="9144000" h="66039">
                <a:moveTo>
                  <a:pt x="9144000" y="0"/>
                </a:moveTo>
                <a:lnTo>
                  <a:pt x="0" y="0"/>
                </a:lnTo>
                <a:lnTo>
                  <a:pt x="0" y="65531"/>
                </a:lnTo>
                <a:lnTo>
                  <a:pt x="9144000" y="65531"/>
                </a:lnTo>
                <a:lnTo>
                  <a:pt x="9144000" y="0"/>
                </a:lnTo>
                <a:close/>
              </a:path>
            </a:pathLst>
          </a:custGeom>
          <a:solidFill>
            <a:srgbClr val="E4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96111" y="1004316"/>
            <a:ext cx="7475220" cy="6350"/>
          </a:xfrm>
          <a:custGeom>
            <a:avLst/>
            <a:gdLst/>
            <a:ahLst/>
            <a:cxnLst/>
            <a:rect l="l" t="t" r="r" b="b"/>
            <a:pathLst>
              <a:path w="7475220" h="6350">
                <a:moveTo>
                  <a:pt x="7475219" y="0"/>
                </a:moveTo>
                <a:lnTo>
                  <a:pt x="0" y="0"/>
                </a:lnTo>
                <a:lnTo>
                  <a:pt x="0" y="6096"/>
                </a:lnTo>
                <a:lnTo>
                  <a:pt x="7475219" y="6096"/>
                </a:lnTo>
                <a:lnTo>
                  <a:pt x="747521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1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5" dirty="0"/>
              <a:t>DEPT.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5" dirty="0"/>
              <a:t>ELECTRICAL</a:t>
            </a:r>
            <a:r>
              <a:rPr spc="-15" dirty="0"/>
              <a:t> </a:t>
            </a:r>
            <a:r>
              <a:rPr spc="-5" dirty="0"/>
              <a:t>ENGINEERING,</a:t>
            </a:r>
            <a:r>
              <a:rPr spc="-40" dirty="0"/>
              <a:t> </a:t>
            </a:r>
            <a:r>
              <a:rPr spc="-5" dirty="0"/>
              <a:t>COLLEGE</a:t>
            </a:r>
            <a:r>
              <a:rPr spc="-25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5" dirty="0"/>
              <a:t>ENGINEERING</a:t>
            </a:r>
            <a:r>
              <a:rPr spc="-30" dirty="0"/>
              <a:t> </a:t>
            </a:r>
            <a:r>
              <a:rPr spc="-5" dirty="0"/>
              <a:t>TRIVANDRUM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32484-4CD0-4D72-86F7-54C04F62324A}" type="datetime1">
              <a:rPr lang="en-US" smtClean="0"/>
              <a:t>10/9/2023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614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1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5" dirty="0"/>
              <a:t>DEPT.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5" dirty="0"/>
              <a:t>ELECTRICAL</a:t>
            </a:r>
            <a:r>
              <a:rPr spc="-15" dirty="0"/>
              <a:t> </a:t>
            </a:r>
            <a:r>
              <a:rPr spc="-5" dirty="0"/>
              <a:t>ENGINEERING,</a:t>
            </a:r>
            <a:r>
              <a:rPr spc="-40" dirty="0"/>
              <a:t> </a:t>
            </a:r>
            <a:r>
              <a:rPr spc="-5" dirty="0"/>
              <a:t>COLLEGE</a:t>
            </a:r>
            <a:r>
              <a:rPr spc="-25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5" dirty="0"/>
              <a:t>ENGINEERING</a:t>
            </a:r>
            <a:r>
              <a:rPr spc="-30" dirty="0"/>
              <a:t> </a:t>
            </a:r>
            <a:r>
              <a:rPr spc="-5" dirty="0"/>
              <a:t>TRIVANDRUM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F4AD7-F592-47D9-AC46-7D66A3A36DD8}" type="datetime1">
              <a:rPr lang="en-US" smtClean="0"/>
              <a:t>10/9/2023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614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1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5" dirty="0"/>
              <a:t>DEPT.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5" dirty="0"/>
              <a:t>ELECTRICAL</a:t>
            </a:r>
            <a:r>
              <a:rPr spc="-15" dirty="0"/>
              <a:t> </a:t>
            </a:r>
            <a:r>
              <a:rPr spc="-5" dirty="0"/>
              <a:t>ENGINEERING,</a:t>
            </a:r>
            <a:r>
              <a:rPr spc="-40" dirty="0"/>
              <a:t> </a:t>
            </a:r>
            <a:r>
              <a:rPr spc="-5" dirty="0"/>
              <a:t>COLLEGE</a:t>
            </a:r>
            <a:r>
              <a:rPr spc="-25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5" dirty="0"/>
              <a:t>ENGINEERING</a:t>
            </a:r>
            <a:r>
              <a:rPr spc="-30" dirty="0"/>
              <a:t> </a:t>
            </a:r>
            <a:r>
              <a:rPr spc="-5" dirty="0"/>
              <a:t>TRIVANDRUM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DBA9-9971-4DEF-9460-B43AE7305DB3}" type="datetime1">
              <a:rPr lang="en-US" smtClean="0"/>
              <a:t>10/9/2023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614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92240"/>
            <a:ext cx="9144000" cy="365760"/>
          </a:xfrm>
          <a:custGeom>
            <a:avLst/>
            <a:gdLst/>
            <a:ahLst/>
            <a:cxnLst/>
            <a:rect l="l" t="t" r="r" b="b"/>
            <a:pathLst>
              <a:path w="9144000" h="365759">
                <a:moveTo>
                  <a:pt x="9144000" y="0"/>
                </a:moveTo>
                <a:lnTo>
                  <a:pt x="0" y="0"/>
                </a:lnTo>
                <a:lnTo>
                  <a:pt x="0" y="365760"/>
                </a:lnTo>
                <a:lnTo>
                  <a:pt x="9144000" y="365760"/>
                </a:lnTo>
                <a:lnTo>
                  <a:pt x="9144000" y="0"/>
                </a:lnTo>
                <a:close/>
              </a:path>
            </a:pathLst>
          </a:custGeom>
          <a:solidFill>
            <a:srgbClr val="BD5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426708"/>
            <a:ext cx="9144000" cy="66040"/>
          </a:xfrm>
          <a:custGeom>
            <a:avLst/>
            <a:gdLst/>
            <a:ahLst/>
            <a:cxnLst/>
            <a:rect l="l" t="t" r="r" b="b"/>
            <a:pathLst>
              <a:path w="9144000" h="66039">
                <a:moveTo>
                  <a:pt x="9144000" y="0"/>
                </a:moveTo>
                <a:lnTo>
                  <a:pt x="0" y="0"/>
                </a:lnTo>
                <a:lnTo>
                  <a:pt x="0" y="65531"/>
                </a:lnTo>
                <a:lnTo>
                  <a:pt x="9144000" y="65531"/>
                </a:lnTo>
                <a:lnTo>
                  <a:pt x="9144000" y="0"/>
                </a:lnTo>
                <a:close/>
              </a:path>
            </a:pathLst>
          </a:custGeom>
          <a:solidFill>
            <a:srgbClr val="E4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171188" y="1894141"/>
            <a:ext cx="267970" cy="0"/>
          </a:xfrm>
          <a:custGeom>
            <a:avLst/>
            <a:gdLst/>
            <a:ahLst/>
            <a:cxnLst/>
            <a:rect l="l" t="t" r="r" b="b"/>
            <a:pathLst>
              <a:path w="267970">
                <a:moveTo>
                  <a:pt x="0" y="0"/>
                </a:moveTo>
                <a:lnTo>
                  <a:pt x="267558" y="0"/>
                </a:lnTo>
              </a:path>
            </a:pathLst>
          </a:custGeom>
          <a:ln w="10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650295" y="189414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546" y="0"/>
                </a:lnTo>
              </a:path>
            </a:pathLst>
          </a:custGeom>
          <a:ln w="10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479160" y="1894141"/>
            <a:ext cx="554990" cy="0"/>
          </a:xfrm>
          <a:custGeom>
            <a:avLst/>
            <a:gdLst/>
            <a:ahLst/>
            <a:cxnLst/>
            <a:rect l="l" t="t" r="r" b="b"/>
            <a:pathLst>
              <a:path w="554989">
                <a:moveTo>
                  <a:pt x="0" y="0"/>
                </a:moveTo>
                <a:lnTo>
                  <a:pt x="554831" y="0"/>
                </a:lnTo>
              </a:path>
            </a:pathLst>
          </a:custGeom>
          <a:ln w="10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245447" y="1894141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759" y="0"/>
                </a:lnTo>
              </a:path>
            </a:pathLst>
          </a:custGeom>
          <a:ln w="10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1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5" dirty="0"/>
              <a:t>DEPT.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5" dirty="0"/>
              <a:t>ELECTRICAL</a:t>
            </a:r>
            <a:r>
              <a:rPr spc="-15" dirty="0"/>
              <a:t> </a:t>
            </a:r>
            <a:r>
              <a:rPr spc="-5" dirty="0"/>
              <a:t>ENGINEERING,</a:t>
            </a:r>
            <a:r>
              <a:rPr spc="-40" dirty="0"/>
              <a:t> </a:t>
            </a:r>
            <a:r>
              <a:rPr spc="-5" dirty="0"/>
              <a:t>COLLEGE</a:t>
            </a:r>
            <a:r>
              <a:rPr spc="-25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5" dirty="0"/>
              <a:t>ENGINEERING</a:t>
            </a:r>
            <a:r>
              <a:rPr spc="-30" dirty="0"/>
              <a:t> </a:t>
            </a:r>
            <a:r>
              <a:rPr spc="-5" dirty="0"/>
              <a:t>TRIVANDRUM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4491E-2F35-423F-89E9-2097DBC67E60}" type="datetime1">
              <a:rPr lang="en-US" smtClean="0"/>
              <a:t>10/9/2023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614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92240"/>
            <a:ext cx="9144000" cy="365760"/>
          </a:xfrm>
          <a:custGeom>
            <a:avLst/>
            <a:gdLst/>
            <a:ahLst/>
            <a:cxnLst/>
            <a:rect l="l" t="t" r="r" b="b"/>
            <a:pathLst>
              <a:path w="9144000" h="365759">
                <a:moveTo>
                  <a:pt x="9144000" y="0"/>
                </a:moveTo>
                <a:lnTo>
                  <a:pt x="0" y="0"/>
                </a:lnTo>
                <a:lnTo>
                  <a:pt x="0" y="365760"/>
                </a:lnTo>
                <a:lnTo>
                  <a:pt x="9144000" y="365760"/>
                </a:lnTo>
                <a:lnTo>
                  <a:pt x="9144000" y="0"/>
                </a:lnTo>
                <a:close/>
              </a:path>
            </a:pathLst>
          </a:custGeom>
          <a:solidFill>
            <a:srgbClr val="BD5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426708"/>
            <a:ext cx="9144000" cy="66040"/>
          </a:xfrm>
          <a:custGeom>
            <a:avLst/>
            <a:gdLst/>
            <a:ahLst/>
            <a:cxnLst/>
            <a:rect l="l" t="t" r="r" b="b"/>
            <a:pathLst>
              <a:path w="9144000" h="66039">
                <a:moveTo>
                  <a:pt x="9144000" y="0"/>
                </a:moveTo>
                <a:lnTo>
                  <a:pt x="0" y="0"/>
                </a:lnTo>
                <a:lnTo>
                  <a:pt x="0" y="65531"/>
                </a:lnTo>
                <a:lnTo>
                  <a:pt x="9144000" y="65531"/>
                </a:lnTo>
                <a:lnTo>
                  <a:pt x="9144000" y="0"/>
                </a:lnTo>
                <a:close/>
              </a:path>
            </a:pathLst>
          </a:custGeom>
          <a:solidFill>
            <a:srgbClr val="E4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04862" y="1862890"/>
            <a:ext cx="5137784" cy="501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1850" y="1361947"/>
            <a:ext cx="7480300" cy="3514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01700" y="6637616"/>
            <a:ext cx="365760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1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5" dirty="0"/>
              <a:t>DEPT.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5" dirty="0"/>
              <a:t>ELECTRICAL</a:t>
            </a:r>
            <a:r>
              <a:rPr spc="-15" dirty="0"/>
              <a:t> </a:t>
            </a:r>
            <a:r>
              <a:rPr spc="-5" dirty="0"/>
              <a:t>ENGINEERING,</a:t>
            </a:r>
            <a:r>
              <a:rPr spc="-40" dirty="0"/>
              <a:t> </a:t>
            </a:r>
            <a:r>
              <a:rPr spc="-5" dirty="0"/>
              <a:t>COLLEGE</a:t>
            </a:r>
            <a:r>
              <a:rPr spc="-25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5" dirty="0"/>
              <a:t>ENGINEERING</a:t>
            </a:r>
            <a:r>
              <a:rPr spc="-30" dirty="0"/>
              <a:t> </a:t>
            </a:r>
            <a:r>
              <a:rPr spc="-5" dirty="0"/>
              <a:t>TRIVANDRUM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9EA8B-EAF1-4B27-AF4A-855729614F08}" type="datetime1">
              <a:rPr lang="en-US" smtClean="0"/>
              <a:t>10/9/2023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075660" y="6562138"/>
            <a:ext cx="282575" cy="229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614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12" Type="http://schemas.openxmlformats.org/officeDocument/2006/relationships/image" Target="../media/image1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10.png"/><Relationship Id="rId5" Type="http://schemas.openxmlformats.org/officeDocument/2006/relationships/image" Target="../media/image15.png"/><Relationship Id="rId10" Type="http://schemas.openxmlformats.org/officeDocument/2006/relationships/image" Target="../media/image1.png"/><Relationship Id="rId4" Type="http://schemas.openxmlformats.org/officeDocument/2006/relationships/image" Target="../media/image1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1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0.jpg"/><Relationship Id="rId18" Type="http://schemas.openxmlformats.org/officeDocument/2006/relationships/image" Target="../media/image35.png"/><Relationship Id="rId3" Type="http://schemas.openxmlformats.org/officeDocument/2006/relationships/image" Target="../media/image13.png"/><Relationship Id="rId21" Type="http://schemas.openxmlformats.org/officeDocument/2006/relationships/image" Target="../media/image38.png"/><Relationship Id="rId7" Type="http://schemas.openxmlformats.org/officeDocument/2006/relationships/image" Target="../media/image28.png"/><Relationship Id="rId12" Type="http://schemas.openxmlformats.org/officeDocument/2006/relationships/image" Target="../media/image29.jpg"/><Relationship Id="rId17" Type="http://schemas.openxmlformats.org/officeDocument/2006/relationships/image" Target="../media/image34.png"/><Relationship Id="rId2" Type="http://schemas.openxmlformats.org/officeDocument/2006/relationships/image" Target="../media/image2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10.png"/><Relationship Id="rId5" Type="http://schemas.openxmlformats.org/officeDocument/2006/relationships/image" Target="../media/image26.png"/><Relationship Id="rId15" Type="http://schemas.openxmlformats.org/officeDocument/2006/relationships/image" Target="../media/image32.png"/><Relationship Id="rId10" Type="http://schemas.openxmlformats.org/officeDocument/2006/relationships/image" Target="../media/image1.png"/><Relationship Id="rId19" Type="http://schemas.openxmlformats.org/officeDocument/2006/relationships/image" Target="../media/image36.png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06780" y="4340352"/>
            <a:ext cx="7406640" cy="7620"/>
          </a:xfrm>
          <a:custGeom>
            <a:avLst/>
            <a:gdLst/>
            <a:ahLst/>
            <a:cxnLst/>
            <a:rect l="l" t="t" r="r" b="b"/>
            <a:pathLst>
              <a:path w="7406640" h="7620">
                <a:moveTo>
                  <a:pt x="7406640" y="0"/>
                </a:moveTo>
                <a:lnTo>
                  <a:pt x="0" y="0"/>
                </a:lnTo>
                <a:lnTo>
                  <a:pt x="0" y="7620"/>
                </a:lnTo>
                <a:lnTo>
                  <a:pt x="7406640" y="7620"/>
                </a:lnTo>
                <a:lnTo>
                  <a:pt x="740664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86145" y="559214"/>
            <a:ext cx="7030084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60" dirty="0">
                <a:solidFill>
                  <a:srgbClr val="E48312"/>
                </a:solidFill>
                <a:latin typeface="Calibri Light"/>
                <a:cs typeface="Calibri Light"/>
              </a:rPr>
              <a:t>Power</a:t>
            </a:r>
            <a:r>
              <a:rPr sz="8000" spc="-275" dirty="0">
                <a:solidFill>
                  <a:srgbClr val="E48312"/>
                </a:solidFill>
                <a:latin typeface="Calibri Light"/>
                <a:cs typeface="Calibri Light"/>
              </a:rPr>
              <a:t> </a:t>
            </a:r>
            <a:r>
              <a:rPr sz="8000" spc="-114" dirty="0">
                <a:solidFill>
                  <a:srgbClr val="E48312"/>
                </a:solidFill>
                <a:latin typeface="Calibri Light"/>
                <a:cs typeface="Calibri Light"/>
              </a:rPr>
              <a:t>Electronics</a:t>
            </a:r>
            <a:endParaRPr sz="80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57340" y="4496627"/>
            <a:ext cx="49345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85" dirty="0">
                <a:solidFill>
                  <a:srgbClr val="637052"/>
                </a:solidFill>
                <a:latin typeface="Calibri Light"/>
                <a:cs typeface="Calibri Light"/>
              </a:rPr>
              <a:t>AC</a:t>
            </a:r>
            <a:r>
              <a:rPr sz="3200" spc="315" dirty="0">
                <a:solidFill>
                  <a:srgbClr val="637052"/>
                </a:solidFill>
                <a:latin typeface="Calibri Light"/>
                <a:cs typeface="Calibri Light"/>
              </a:rPr>
              <a:t> </a:t>
            </a:r>
            <a:r>
              <a:rPr sz="3200" spc="70" dirty="0">
                <a:solidFill>
                  <a:srgbClr val="637052"/>
                </a:solidFill>
                <a:latin typeface="Calibri Light"/>
                <a:cs typeface="Calibri Light"/>
              </a:rPr>
              <a:t>VOLTAGE</a:t>
            </a:r>
            <a:r>
              <a:rPr sz="3200" spc="300" dirty="0">
                <a:solidFill>
                  <a:srgbClr val="637052"/>
                </a:solidFill>
                <a:latin typeface="Calibri Light"/>
                <a:cs typeface="Calibri Light"/>
              </a:rPr>
              <a:t> </a:t>
            </a:r>
            <a:r>
              <a:rPr sz="3200" spc="140" dirty="0">
                <a:solidFill>
                  <a:srgbClr val="637052"/>
                </a:solidFill>
                <a:latin typeface="Calibri Light"/>
                <a:cs typeface="Calibri Light"/>
              </a:rPr>
              <a:t>CONTROLLERS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6529831"/>
            <a:ext cx="3657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5" dirty="0">
                <a:solidFill>
                  <a:srgbClr val="FFFFFF"/>
                </a:solidFill>
                <a:latin typeface="Calibri"/>
                <a:cs typeface="Calibri"/>
              </a:rPr>
              <a:t>DEPT.</a:t>
            </a:r>
            <a:r>
              <a:rPr sz="900" i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i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FFFFFF"/>
                </a:solidFill>
                <a:latin typeface="Calibri"/>
                <a:cs typeface="Calibri"/>
              </a:rPr>
              <a:t>ELECTRICAL</a:t>
            </a:r>
            <a:r>
              <a:rPr sz="900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FFFFFF"/>
                </a:solidFill>
                <a:latin typeface="Calibri"/>
                <a:cs typeface="Calibri"/>
              </a:rPr>
              <a:t>ENGINEERING,</a:t>
            </a:r>
            <a:r>
              <a:rPr sz="900" i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FFFFFF"/>
                </a:solidFill>
                <a:latin typeface="Calibri"/>
                <a:cs typeface="Calibri"/>
              </a:rPr>
              <a:t>COLLEGE</a:t>
            </a:r>
            <a:r>
              <a:rPr sz="9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i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FFFFFF"/>
                </a:solidFill>
                <a:latin typeface="Calibri"/>
                <a:cs typeface="Calibri"/>
              </a:rPr>
              <a:t>ENGINEERING</a:t>
            </a:r>
            <a:r>
              <a:rPr sz="9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i="1" spc="-5" dirty="0">
                <a:solidFill>
                  <a:srgbClr val="FFFFFF"/>
                </a:solidFill>
                <a:latin typeface="Calibri"/>
                <a:cs typeface="Calibri"/>
              </a:rPr>
              <a:t>TRIVANDRUM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614"/>
              </a:lnSpc>
            </a:pPr>
            <a:fld id="{81D60167-4931-47E6-BA6A-407CBD079E47}" type="slidenum">
              <a:rPr lang="en-IN" spc="-5" smtClean="0"/>
              <a:t>1</a:t>
            </a:fld>
            <a:endParaRPr lang="en-IN" spc="-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3071" y="354431"/>
            <a:ext cx="39027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5" dirty="0">
                <a:solidFill>
                  <a:srgbClr val="002060"/>
                </a:solidFill>
                <a:latin typeface="Calibri Light"/>
                <a:cs typeface="Calibri Light"/>
              </a:rPr>
              <a:t>A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C</a:t>
            </a:r>
            <a:r>
              <a:rPr sz="3600" spc="-175" dirty="0">
                <a:solidFill>
                  <a:srgbClr val="002060"/>
                </a:solidFill>
                <a:latin typeface="Calibri Light"/>
                <a:cs typeface="Calibri Light"/>
              </a:rPr>
              <a:t> </a:t>
            </a:r>
            <a:r>
              <a:rPr sz="3600" spc="-220" dirty="0">
                <a:solidFill>
                  <a:srgbClr val="002060"/>
                </a:solidFill>
                <a:latin typeface="Calibri Light"/>
                <a:cs typeface="Calibri Light"/>
              </a:rPr>
              <a:t>V</a:t>
            </a:r>
            <a:r>
              <a:rPr sz="3600" spc="-70" dirty="0">
                <a:solidFill>
                  <a:srgbClr val="002060"/>
                </a:solidFill>
                <a:latin typeface="Calibri Light"/>
                <a:cs typeface="Calibri Light"/>
              </a:rPr>
              <a:t>o</a:t>
            </a:r>
            <a:r>
              <a:rPr sz="3600" spc="-65" dirty="0">
                <a:solidFill>
                  <a:srgbClr val="002060"/>
                </a:solidFill>
                <a:latin typeface="Calibri Light"/>
                <a:cs typeface="Calibri Light"/>
              </a:rPr>
              <a:t>l</a:t>
            </a:r>
            <a:r>
              <a:rPr sz="3600" spc="-130" dirty="0">
                <a:solidFill>
                  <a:srgbClr val="002060"/>
                </a:solidFill>
                <a:latin typeface="Calibri Light"/>
                <a:cs typeface="Calibri Light"/>
              </a:rPr>
              <a:t>t</a:t>
            </a:r>
            <a:r>
              <a:rPr sz="3600" spc="-90" dirty="0">
                <a:solidFill>
                  <a:srgbClr val="002060"/>
                </a:solidFill>
                <a:latin typeface="Calibri Light"/>
                <a:cs typeface="Calibri Light"/>
              </a:rPr>
              <a:t>a</a:t>
            </a:r>
            <a:r>
              <a:rPr sz="3600" spc="-105" dirty="0">
                <a:solidFill>
                  <a:srgbClr val="002060"/>
                </a:solidFill>
                <a:latin typeface="Calibri Light"/>
                <a:cs typeface="Calibri Light"/>
              </a:rPr>
              <a:t>g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e</a:t>
            </a:r>
            <a:r>
              <a:rPr sz="3600" spc="-185" dirty="0">
                <a:solidFill>
                  <a:srgbClr val="002060"/>
                </a:solidFill>
                <a:latin typeface="Calibri Light"/>
                <a:cs typeface="Calibri Light"/>
              </a:rPr>
              <a:t> </a:t>
            </a:r>
            <a:r>
              <a:rPr sz="3600" spc="-70" dirty="0">
                <a:solidFill>
                  <a:srgbClr val="002060"/>
                </a:solidFill>
                <a:latin typeface="Calibri Light"/>
                <a:cs typeface="Calibri Light"/>
              </a:rPr>
              <a:t>C</a:t>
            </a:r>
            <a:r>
              <a:rPr sz="3600" spc="-80" dirty="0">
                <a:solidFill>
                  <a:srgbClr val="002060"/>
                </a:solidFill>
                <a:latin typeface="Calibri Light"/>
                <a:cs typeface="Calibri Light"/>
              </a:rPr>
              <a:t>o</a:t>
            </a:r>
            <a:r>
              <a:rPr sz="3600" spc="-120" dirty="0">
                <a:solidFill>
                  <a:srgbClr val="002060"/>
                </a:solidFill>
                <a:latin typeface="Calibri Light"/>
                <a:cs typeface="Calibri Light"/>
              </a:rPr>
              <a:t>n</a:t>
            </a:r>
            <a:r>
              <a:rPr sz="3600" spc="-70" dirty="0">
                <a:solidFill>
                  <a:srgbClr val="002060"/>
                </a:solidFill>
                <a:latin typeface="Calibri Light"/>
                <a:cs typeface="Calibri Light"/>
              </a:rPr>
              <a:t>t</a:t>
            </a:r>
            <a:r>
              <a:rPr sz="3600" spc="-150" dirty="0">
                <a:solidFill>
                  <a:srgbClr val="002060"/>
                </a:solidFill>
                <a:latin typeface="Calibri Light"/>
                <a:cs typeface="Calibri Light"/>
              </a:rPr>
              <a:t>r</a:t>
            </a:r>
            <a:r>
              <a:rPr sz="3600" spc="-105" dirty="0">
                <a:solidFill>
                  <a:srgbClr val="002060"/>
                </a:solidFill>
                <a:latin typeface="Calibri Light"/>
                <a:cs typeface="Calibri Light"/>
              </a:rPr>
              <a:t>o</a:t>
            </a:r>
            <a:r>
              <a:rPr sz="3600" spc="-65" dirty="0">
                <a:solidFill>
                  <a:srgbClr val="002060"/>
                </a:solidFill>
                <a:latin typeface="Calibri Light"/>
                <a:cs typeface="Calibri Light"/>
              </a:rPr>
              <a:t>l</a:t>
            </a:r>
            <a:r>
              <a:rPr sz="3600" spc="-75" dirty="0">
                <a:solidFill>
                  <a:srgbClr val="002060"/>
                </a:solidFill>
                <a:latin typeface="Calibri Light"/>
                <a:cs typeface="Calibri Light"/>
              </a:rPr>
              <a:t>le</a:t>
            </a:r>
            <a:r>
              <a:rPr sz="3600" spc="-150" dirty="0">
                <a:solidFill>
                  <a:srgbClr val="002060"/>
                </a:solidFill>
                <a:latin typeface="Calibri Light"/>
                <a:cs typeface="Calibri Light"/>
              </a:rPr>
              <a:t>r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s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1860" y="1394028"/>
            <a:ext cx="5278755" cy="45281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67665" marR="1369060" indent="-355600">
              <a:lnSpc>
                <a:spcPct val="80000"/>
              </a:lnSpc>
              <a:spcBef>
                <a:spcPts val="675"/>
              </a:spcBef>
              <a:buClr>
                <a:srgbClr val="E48312"/>
              </a:buClr>
              <a:buSzPct val="75000"/>
              <a:buFont typeface="Wingdings"/>
              <a:buChar char=""/>
              <a:tabLst>
                <a:tab pos="367030" algn="l"/>
                <a:tab pos="368300" algn="l"/>
              </a:tabLst>
            </a:pP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Converts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Fixed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AC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Voltage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2400" spc="-5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Variable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AC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Voltage</a:t>
            </a:r>
            <a:endParaRPr sz="2400">
              <a:latin typeface="Calibri"/>
              <a:cs typeface="Calibri"/>
            </a:endParaRPr>
          </a:p>
          <a:p>
            <a:pPr marL="367665" indent="-355600">
              <a:lnSpc>
                <a:spcPct val="100000"/>
              </a:lnSpc>
              <a:spcBef>
                <a:spcPts val="830"/>
              </a:spcBef>
              <a:buClr>
                <a:srgbClr val="E48312"/>
              </a:buClr>
              <a:buSzPct val="75000"/>
              <a:buFont typeface="Wingdings"/>
              <a:buChar char=""/>
              <a:tabLst>
                <a:tab pos="367030" algn="l"/>
                <a:tab pos="368300" algn="l"/>
              </a:tabLst>
            </a:pP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Thyristor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controller</a:t>
            </a:r>
            <a:endParaRPr sz="2400">
              <a:latin typeface="Calibri"/>
              <a:cs typeface="Calibri"/>
            </a:endParaRPr>
          </a:p>
          <a:p>
            <a:pPr marL="367665" indent="-355600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SzPct val="75000"/>
              <a:buFont typeface="Wingdings"/>
              <a:buChar char=""/>
              <a:tabLst>
                <a:tab pos="367030" algn="l"/>
                <a:tab pos="368300" algn="l"/>
              </a:tabLst>
            </a:pP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Two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Types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Control</a:t>
            </a:r>
            <a:endParaRPr sz="2400">
              <a:latin typeface="Calibri"/>
              <a:cs typeface="Calibri"/>
            </a:endParaRPr>
          </a:p>
          <a:p>
            <a:pPr marL="658495" lvl="1" indent="-194310">
              <a:lnSpc>
                <a:spcPct val="100000"/>
              </a:lnSpc>
              <a:spcBef>
                <a:spcPts val="825"/>
              </a:spcBef>
              <a:buClr>
                <a:srgbClr val="E48312"/>
              </a:buClr>
              <a:buFont typeface="Wingdings"/>
              <a:buChar char=""/>
              <a:tabLst>
                <a:tab pos="659130" algn="l"/>
              </a:tabLst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Phase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Control</a:t>
            </a:r>
            <a:endParaRPr sz="2400">
              <a:latin typeface="Calibri"/>
              <a:cs typeface="Calibri"/>
            </a:endParaRPr>
          </a:p>
          <a:p>
            <a:pPr marL="908050" marR="5080" lvl="2" indent="-239395">
              <a:lnSpc>
                <a:spcPts val="1920"/>
              </a:lnSpc>
              <a:spcBef>
                <a:spcPts val="600"/>
              </a:spcBef>
              <a:buClr>
                <a:srgbClr val="E48312"/>
              </a:buClr>
              <a:buSzPct val="50000"/>
              <a:buFont typeface="Wingdings"/>
              <a:buChar char=""/>
              <a:tabLst>
                <a:tab pos="908050" algn="l"/>
                <a:tab pos="90868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Conduction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take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place in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portion of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each </a:t>
            </a:r>
            <a:r>
              <a:rPr sz="2000" spc="-4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half cycle,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starting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a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specific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phase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angle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(firing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angle)</a:t>
            </a:r>
            <a:endParaRPr sz="2000">
              <a:latin typeface="Calibri"/>
              <a:cs typeface="Calibri"/>
            </a:endParaRPr>
          </a:p>
          <a:p>
            <a:pPr marL="658495" lvl="1" indent="-194310">
              <a:lnSpc>
                <a:spcPct val="100000"/>
              </a:lnSpc>
              <a:spcBef>
                <a:spcPts val="1019"/>
              </a:spcBef>
              <a:buClr>
                <a:srgbClr val="E48312"/>
              </a:buClr>
              <a:buFont typeface="Wingdings"/>
              <a:buChar char=""/>
              <a:tabLst>
                <a:tab pos="659130" algn="l"/>
              </a:tabLst>
            </a:pP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Integral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Cycle</a:t>
            </a: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Control</a:t>
            </a:r>
            <a:endParaRPr sz="2400">
              <a:latin typeface="Calibri"/>
              <a:cs typeface="Calibri"/>
            </a:endParaRPr>
          </a:p>
          <a:p>
            <a:pPr marL="908050" marR="577215" lvl="2" indent="-239395">
              <a:lnSpc>
                <a:spcPct val="80000"/>
              </a:lnSpc>
              <a:spcBef>
                <a:spcPts val="620"/>
              </a:spcBef>
              <a:buClr>
                <a:srgbClr val="E48312"/>
              </a:buClr>
              <a:buSzPct val="50000"/>
              <a:buFont typeface="Wingdings"/>
              <a:buChar char=""/>
              <a:tabLst>
                <a:tab pos="908050" algn="l"/>
                <a:tab pos="90868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Conduction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takes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place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for integral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number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of full cycles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 turn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off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for </a:t>
            </a:r>
            <a:r>
              <a:rPr sz="2000" spc="-4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further number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cycles.</a:t>
            </a:r>
            <a:endParaRPr sz="2000">
              <a:latin typeface="Calibri"/>
              <a:cs typeface="Calibri"/>
            </a:endParaRPr>
          </a:p>
          <a:p>
            <a:pPr marL="908050" lvl="2" indent="-239395">
              <a:lnSpc>
                <a:spcPct val="100000"/>
              </a:lnSpc>
              <a:spcBef>
                <a:spcPts val="120"/>
              </a:spcBef>
              <a:buClr>
                <a:srgbClr val="E48312"/>
              </a:buClr>
              <a:buSzPct val="50000"/>
              <a:buFont typeface="Wingdings"/>
              <a:buChar char=""/>
              <a:tabLst>
                <a:tab pos="908050" algn="l"/>
                <a:tab pos="908685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large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constant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4388" y="2055876"/>
            <a:ext cx="138683" cy="9143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657088" y="1225295"/>
            <a:ext cx="2571115" cy="1394460"/>
            <a:chOff x="5657088" y="1225295"/>
            <a:chExt cx="2571115" cy="139446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14388" y="1505711"/>
              <a:ext cx="121920" cy="914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3239" y="1770887"/>
              <a:ext cx="210311" cy="23164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90003" y="1225295"/>
              <a:ext cx="210311" cy="23317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34911" y="1342643"/>
              <a:ext cx="902335" cy="544195"/>
            </a:xfrm>
            <a:custGeom>
              <a:avLst/>
              <a:gdLst/>
              <a:ahLst/>
              <a:cxnLst/>
              <a:rect l="l" t="t" r="r" b="b"/>
              <a:pathLst>
                <a:path w="902334" h="544194">
                  <a:moveTo>
                    <a:pt x="507491" y="0"/>
                  </a:moveTo>
                  <a:lnTo>
                    <a:pt x="902207" y="0"/>
                  </a:lnTo>
                  <a:lnTo>
                    <a:pt x="902207" y="544067"/>
                  </a:lnTo>
                  <a:lnTo>
                    <a:pt x="541019" y="544067"/>
                  </a:lnTo>
                </a:path>
                <a:path w="902334" h="544194">
                  <a:moveTo>
                    <a:pt x="361187" y="0"/>
                  </a:moveTo>
                  <a:lnTo>
                    <a:pt x="0" y="0"/>
                  </a:lnTo>
                  <a:lnTo>
                    <a:pt x="0" y="544067"/>
                  </a:lnTo>
                  <a:lnTo>
                    <a:pt x="396239" y="544067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86044" y="2048280"/>
              <a:ext cx="249935" cy="15613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664708" y="1613915"/>
              <a:ext cx="870585" cy="661670"/>
            </a:xfrm>
            <a:custGeom>
              <a:avLst/>
              <a:gdLst/>
              <a:ahLst/>
              <a:cxnLst/>
              <a:rect l="l" t="t" r="r" b="b"/>
              <a:pathLst>
                <a:path w="870584" h="661669">
                  <a:moveTo>
                    <a:pt x="297179" y="512063"/>
                  </a:moveTo>
                  <a:lnTo>
                    <a:pt x="289547" y="464929"/>
                  </a:lnTo>
                  <a:lnTo>
                    <a:pt x="268309" y="423940"/>
                  </a:lnTo>
                  <a:lnTo>
                    <a:pt x="235951" y="391582"/>
                  </a:lnTo>
                  <a:lnTo>
                    <a:pt x="194962" y="370344"/>
                  </a:lnTo>
                  <a:lnTo>
                    <a:pt x="147827" y="362711"/>
                  </a:lnTo>
                  <a:lnTo>
                    <a:pt x="101437" y="370344"/>
                  </a:lnTo>
                  <a:lnTo>
                    <a:pt x="60899" y="391582"/>
                  </a:lnTo>
                  <a:lnTo>
                    <a:pt x="28773" y="423940"/>
                  </a:lnTo>
                  <a:lnTo>
                    <a:pt x="7619" y="464929"/>
                  </a:lnTo>
                  <a:lnTo>
                    <a:pt x="0" y="512063"/>
                  </a:lnTo>
                  <a:lnTo>
                    <a:pt x="7619" y="559198"/>
                  </a:lnTo>
                  <a:lnTo>
                    <a:pt x="28773" y="600187"/>
                  </a:lnTo>
                  <a:lnTo>
                    <a:pt x="60899" y="632545"/>
                  </a:lnTo>
                  <a:lnTo>
                    <a:pt x="101437" y="653783"/>
                  </a:lnTo>
                  <a:lnTo>
                    <a:pt x="147827" y="661415"/>
                  </a:lnTo>
                  <a:lnTo>
                    <a:pt x="194962" y="653783"/>
                  </a:lnTo>
                  <a:lnTo>
                    <a:pt x="235951" y="632545"/>
                  </a:lnTo>
                  <a:lnTo>
                    <a:pt x="268309" y="600187"/>
                  </a:lnTo>
                  <a:lnTo>
                    <a:pt x="289547" y="559198"/>
                  </a:lnTo>
                  <a:lnTo>
                    <a:pt x="297179" y="512063"/>
                  </a:lnTo>
                </a:path>
                <a:path w="870584" h="661669">
                  <a:moveTo>
                    <a:pt x="147827" y="362711"/>
                  </a:moveTo>
                  <a:lnTo>
                    <a:pt x="147827" y="0"/>
                  </a:lnTo>
                </a:path>
                <a:path w="870584" h="661669">
                  <a:moveTo>
                    <a:pt x="147827" y="0"/>
                  </a:moveTo>
                  <a:lnTo>
                    <a:pt x="870203" y="0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97011" y="1933955"/>
              <a:ext cx="131063" cy="3047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812536" y="1613915"/>
              <a:ext cx="2357755" cy="998219"/>
            </a:xfrm>
            <a:custGeom>
              <a:avLst/>
              <a:gdLst/>
              <a:ahLst/>
              <a:cxnLst/>
              <a:rect l="l" t="t" r="r" b="b"/>
              <a:pathLst>
                <a:path w="2357754" h="998219">
                  <a:moveTo>
                    <a:pt x="2357627" y="327659"/>
                  </a:moveTo>
                  <a:lnTo>
                    <a:pt x="2357627" y="0"/>
                  </a:lnTo>
                  <a:lnTo>
                    <a:pt x="1624583" y="0"/>
                  </a:lnTo>
                </a:path>
                <a:path w="2357754" h="998219">
                  <a:moveTo>
                    <a:pt x="2357627" y="617219"/>
                  </a:moveTo>
                  <a:lnTo>
                    <a:pt x="2357627" y="998219"/>
                  </a:lnTo>
                  <a:lnTo>
                    <a:pt x="0" y="998219"/>
                  </a:lnTo>
                  <a:lnTo>
                    <a:pt x="0" y="672083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25896" y="2055875"/>
              <a:ext cx="131063" cy="15697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54696" y="2007107"/>
              <a:ext cx="91440" cy="1036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33944" y="2090927"/>
              <a:ext cx="67055" cy="73151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95131" y="2034539"/>
            <a:ext cx="94488" cy="11125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922264" y="4841747"/>
            <a:ext cx="2491740" cy="4039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534911" y="3503676"/>
            <a:ext cx="1778508" cy="579119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14"/>
              </a:lnSpc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3071" y="354431"/>
            <a:ext cx="4879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0" dirty="0">
                <a:solidFill>
                  <a:srgbClr val="002060"/>
                </a:solidFill>
                <a:latin typeface="Calibri Light"/>
                <a:cs typeface="Calibri Light"/>
              </a:rPr>
              <a:t>B</a:t>
            </a:r>
            <a:r>
              <a:rPr sz="3600" spc="-75" dirty="0">
                <a:solidFill>
                  <a:srgbClr val="002060"/>
                </a:solidFill>
                <a:latin typeface="Calibri Light"/>
                <a:cs typeface="Calibri Light"/>
              </a:rPr>
              <a:t>asi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c</a:t>
            </a:r>
            <a:r>
              <a:rPr sz="3600" spc="-175" dirty="0">
                <a:solidFill>
                  <a:srgbClr val="002060"/>
                </a:solidFill>
                <a:latin typeface="Calibri Light"/>
                <a:cs typeface="Calibri Light"/>
              </a:rPr>
              <a:t> </a:t>
            </a:r>
            <a:r>
              <a:rPr sz="3600" spc="-70" dirty="0">
                <a:solidFill>
                  <a:srgbClr val="002060"/>
                </a:solidFill>
                <a:latin typeface="Calibri Light"/>
                <a:cs typeface="Calibri Light"/>
              </a:rPr>
              <a:t>C</a:t>
            </a:r>
            <a:r>
              <a:rPr sz="3600" spc="-80" dirty="0">
                <a:solidFill>
                  <a:srgbClr val="002060"/>
                </a:solidFill>
                <a:latin typeface="Calibri Light"/>
                <a:cs typeface="Calibri Light"/>
              </a:rPr>
              <a:t>o</a:t>
            </a:r>
            <a:r>
              <a:rPr sz="3600" spc="-120" dirty="0">
                <a:solidFill>
                  <a:srgbClr val="002060"/>
                </a:solidFill>
                <a:latin typeface="Calibri Light"/>
                <a:cs typeface="Calibri Light"/>
              </a:rPr>
              <a:t>n</a:t>
            </a:r>
            <a:r>
              <a:rPr sz="3600" spc="-80" dirty="0">
                <a:solidFill>
                  <a:srgbClr val="002060"/>
                </a:solidFill>
                <a:latin typeface="Calibri Light"/>
                <a:cs typeface="Calibri Light"/>
              </a:rPr>
              <a:t>t</a:t>
            </a:r>
            <a:r>
              <a:rPr sz="3600" spc="-150" dirty="0">
                <a:solidFill>
                  <a:srgbClr val="002060"/>
                </a:solidFill>
                <a:latin typeface="Calibri Light"/>
                <a:cs typeface="Calibri Light"/>
              </a:rPr>
              <a:t>r</a:t>
            </a:r>
            <a:r>
              <a:rPr sz="3600" spc="-90" dirty="0">
                <a:solidFill>
                  <a:srgbClr val="002060"/>
                </a:solidFill>
                <a:latin typeface="Calibri Light"/>
                <a:cs typeface="Calibri Light"/>
              </a:rPr>
              <a:t>o</a:t>
            </a:r>
            <a:r>
              <a:rPr sz="3600" spc="-65" dirty="0">
                <a:solidFill>
                  <a:srgbClr val="002060"/>
                </a:solidFill>
                <a:latin typeface="Calibri Light"/>
                <a:cs typeface="Calibri Light"/>
              </a:rPr>
              <a:t>l</a:t>
            </a:r>
            <a:r>
              <a:rPr sz="3600" spc="-75" dirty="0">
                <a:solidFill>
                  <a:srgbClr val="002060"/>
                </a:solidFill>
                <a:latin typeface="Calibri Light"/>
                <a:cs typeface="Calibri Light"/>
              </a:rPr>
              <a:t>le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r</a:t>
            </a:r>
            <a:r>
              <a:rPr sz="3600" spc="-185" dirty="0">
                <a:solidFill>
                  <a:srgbClr val="002060"/>
                </a:solidFill>
                <a:latin typeface="Calibri Light"/>
                <a:cs typeface="Calibri Light"/>
              </a:rPr>
              <a:t> </a:t>
            </a:r>
            <a:r>
              <a:rPr sz="3600" spc="-80" dirty="0">
                <a:solidFill>
                  <a:srgbClr val="002060"/>
                </a:solidFill>
                <a:latin typeface="Calibri Light"/>
                <a:cs typeface="Calibri Light"/>
              </a:rPr>
              <a:t>w</a:t>
            </a:r>
            <a:r>
              <a:rPr sz="3600" spc="-65" dirty="0">
                <a:solidFill>
                  <a:srgbClr val="002060"/>
                </a:solidFill>
                <a:latin typeface="Calibri Light"/>
                <a:cs typeface="Calibri Light"/>
              </a:rPr>
              <a:t>i</a:t>
            </a:r>
            <a:r>
              <a:rPr sz="3600" spc="-70" dirty="0">
                <a:solidFill>
                  <a:srgbClr val="002060"/>
                </a:solidFill>
                <a:latin typeface="Calibri Light"/>
                <a:cs typeface="Calibri Light"/>
              </a:rPr>
              <a:t>t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h</a:t>
            </a:r>
            <a:r>
              <a:rPr sz="3600" spc="-180" dirty="0">
                <a:solidFill>
                  <a:srgbClr val="002060"/>
                </a:solidFill>
                <a:latin typeface="Calibri Light"/>
                <a:cs typeface="Calibri Light"/>
              </a:rPr>
              <a:t> 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R</a:t>
            </a:r>
            <a:r>
              <a:rPr sz="3600" spc="-150" dirty="0">
                <a:solidFill>
                  <a:srgbClr val="002060"/>
                </a:solidFill>
                <a:latin typeface="Calibri Light"/>
                <a:cs typeface="Calibri Light"/>
              </a:rPr>
              <a:t> </a:t>
            </a:r>
            <a:r>
              <a:rPr sz="3600" spc="-70" dirty="0">
                <a:solidFill>
                  <a:srgbClr val="002060"/>
                </a:solidFill>
                <a:latin typeface="Calibri Light"/>
                <a:cs typeface="Calibri Light"/>
              </a:rPr>
              <a:t>L</a:t>
            </a:r>
            <a:r>
              <a:rPr sz="3600" spc="-80" dirty="0">
                <a:solidFill>
                  <a:srgbClr val="002060"/>
                </a:solidFill>
                <a:latin typeface="Calibri Light"/>
                <a:cs typeface="Calibri Light"/>
              </a:rPr>
              <a:t>o</a:t>
            </a:r>
            <a:r>
              <a:rPr sz="3600" spc="-75" dirty="0">
                <a:solidFill>
                  <a:srgbClr val="002060"/>
                </a:solidFill>
                <a:latin typeface="Calibri Light"/>
                <a:cs typeface="Calibri Light"/>
              </a:rPr>
              <a:t>a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d</a:t>
            </a:r>
            <a:endParaRPr sz="36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55419" y="1383791"/>
            <a:ext cx="2569845" cy="1393190"/>
            <a:chOff x="1455419" y="1383791"/>
            <a:chExt cx="2569845" cy="13931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1196" y="1662684"/>
              <a:ext cx="121919" cy="914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571" y="1927859"/>
              <a:ext cx="210311" cy="23317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6811" y="1383791"/>
              <a:ext cx="210311" cy="23164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31719" y="1499615"/>
              <a:ext cx="902335" cy="544195"/>
            </a:xfrm>
            <a:custGeom>
              <a:avLst/>
              <a:gdLst/>
              <a:ahLst/>
              <a:cxnLst/>
              <a:rect l="l" t="t" r="r" b="b"/>
              <a:pathLst>
                <a:path w="902335" h="544194">
                  <a:moveTo>
                    <a:pt x="507491" y="0"/>
                  </a:moveTo>
                  <a:lnTo>
                    <a:pt x="902207" y="0"/>
                  </a:lnTo>
                  <a:lnTo>
                    <a:pt x="902207" y="544067"/>
                  </a:lnTo>
                  <a:lnTo>
                    <a:pt x="542543" y="544067"/>
                  </a:lnTo>
                </a:path>
                <a:path w="902335" h="544194">
                  <a:moveTo>
                    <a:pt x="361187" y="0"/>
                  </a:moveTo>
                  <a:lnTo>
                    <a:pt x="0" y="0"/>
                  </a:lnTo>
                  <a:lnTo>
                    <a:pt x="0" y="544067"/>
                  </a:lnTo>
                  <a:lnTo>
                    <a:pt x="397763" y="544067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4375" y="2205252"/>
              <a:ext cx="249935" cy="15613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63039" y="1772411"/>
              <a:ext cx="868680" cy="660400"/>
            </a:xfrm>
            <a:custGeom>
              <a:avLst/>
              <a:gdLst/>
              <a:ahLst/>
              <a:cxnLst/>
              <a:rect l="l" t="t" r="r" b="b"/>
              <a:pathLst>
                <a:path w="868680" h="660400">
                  <a:moveTo>
                    <a:pt x="295655" y="510539"/>
                  </a:moveTo>
                  <a:lnTo>
                    <a:pt x="288035" y="463564"/>
                  </a:lnTo>
                  <a:lnTo>
                    <a:pt x="266882" y="422952"/>
                  </a:lnTo>
                  <a:lnTo>
                    <a:pt x="234756" y="391046"/>
                  </a:lnTo>
                  <a:lnTo>
                    <a:pt x="194218" y="370185"/>
                  </a:lnTo>
                  <a:lnTo>
                    <a:pt x="147827" y="362711"/>
                  </a:lnTo>
                  <a:lnTo>
                    <a:pt x="100852" y="370185"/>
                  </a:lnTo>
                  <a:lnTo>
                    <a:pt x="60240" y="391046"/>
                  </a:lnTo>
                  <a:lnTo>
                    <a:pt x="28334" y="422952"/>
                  </a:lnTo>
                  <a:lnTo>
                    <a:pt x="7473" y="463564"/>
                  </a:lnTo>
                  <a:lnTo>
                    <a:pt x="0" y="510539"/>
                  </a:lnTo>
                  <a:lnTo>
                    <a:pt x="7473" y="557674"/>
                  </a:lnTo>
                  <a:lnTo>
                    <a:pt x="28334" y="598663"/>
                  </a:lnTo>
                  <a:lnTo>
                    <a:pt x="60240" y="631021"/>
                  </a:lnTo>
                  <a:lnTo>
                    <a:pt x="100852" y="652259"/>
                  </a:lnTo>
                  <a:lnTo>
                    <a:pt x="147827" y="659891"/>
                  </a:lnTo>
                  <a:lnTo>
                    <a:pt x="194218" y="652259"/>
                  </a:lnTo>
                  <a:lnTo>
                    <a:pt x="234756" y="631021"/>
                  </a:lnTo>
                  <a:lnTo>
                    <a:pt x="266882" y="598663"/>
                  </a:lnTo>
                  <a:lnTo>
                    <a:pt x="288035" y="557674"/>
                  </a:lnTo>
                  <a:lnTo>
                    <a:pt x="295655" y="510539"/>
                  </a:lnTo>
                </a:path>
                <a:path w="868680" h="660400">
                  <a:moveTo>
                    <a:pt x="147827" y="362711"/>
                  </a:moveTo>
                  <a:lnTo>
                    <a:pt x="147827" y="0"/>
                  </a:lnTo>
                </a:path>
                <a:path w="868680" h="660400">
                  <a:moveTo>
                    <a:pt x="147827" y="0"/>
                  </a:moveTo>
                  <a:lnTo>
                    <a:pt x="868679" y="0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93819" y="2090927"/>
              <a:ext cx="131063" cy="3047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610867" y="1772411"/>
              <a:ext cx="2356485" cy="996950"/>
            </a:xfrm>
            <a:custGeom>
              <a:avLst/>
              <a:gdLst/>
              <a:ahLst/>
              <a:cxnLst/>
              <a:rect l="l" t="t" r="r" b="b"/>
              <a:pathLst>
                <a:path w="2356485" h="996950">
                  <a:moveTo>
                    <a:pt x="2356103" y="326135"/>
                  </a:moveTo>
                  <a:lnTo>
                    <a:pt x="2356103" y="0"/>
                  </a:lnTo>
                  <a:lnTo>
                    <a:pt x="1623059" y="0"/>
                  </a:lnTo>
                </a:path>
                <a:path w="2356485" h="996950">
                  <a:moveTo>
                    <a:pt x="2356103" y="615695"/>
                  </a:moveTo>
                  <a:lnTo>
                    <a:pt x="2356103" y="996695"/>
                  </a:lnTo>
                  <a:lnTo>
                    <a:pt x="0" y="996695"/>
                  </a:lnTo>
                  <a:lnTo>
                    <a:pt x="0" y="670559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2704" y="2212847"/>
              <a:ext cx="131063" cy="1569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51503" y="2164080"/>
              <a:ext cx="91439" cy="1036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32275" y="2247900"/>
              <a:ext cx="67055" cy="73151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11195" y="2212848"/>
            <a:ext cx="138683" cy="9143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093464" y="2191511"/>
            <a:ext cx="94487" cy="11125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24926" y="1213103"/>
            <a:ext cx="2328929" cy="3359443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617631" y="3609784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4">
                <a:moveTo>
                  <a:pt x="0" y="0"/>
                </a:moveTo>
                <a:lnTo>
                  <a:pt x="170306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78688" y="3328796"/>
            <a:ext cx="389890" cy="561975"/>
          </a:xfrm>
          <a:custGeom>
            <a:avLst/>
            <a:gdLst/>
            <a:ahLst/>
            <a:cxnLst/>
            <a:rect l="l" t="t" r="r" b="b"/>
            <a:pathLst>
              <a:path w="389889" h="561975">
                <a:moveTo>
                  <a:pt x="0" y="280987"/>
                </a:moveTo>
                <a:lnTo>
                  <a:pt x="341660" y="280987"/>
                </a:lnTo>
              </a:path>
              <a:path w="389889" h="561975">
                <a:moveTo>
                  <a:pt x="389285" y="0"/>
                </a:moveTo>
                <a:lnTo>
                  <a:pt x="389285" y="561974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16888" y="3328796"/>
            <a:ext cx="685800" cy="561975"/>
          </a:xfrm>
          <a:custGeom>
            <a:avLst/>
            <a:gdLst/>
            <a:ahLst/>
            <a:cxnLst/>
            <a:rect l="l" t="t" r="r" b="b"/>
            <a:pathLst>
              <a:path w="685800" h="561975">
                <a:moveTo>
                  <a:pt x="0" y="280987"/>
                </a:moveTo>
                <a:lnTo>
                  <a:pt x="663130" y="280987"/>
                </a:lnTo>
              </a:path>
              <a:path w="685800" h="561975">
                <a:moveTo>
                  <a:pt x="685799" y="0"/>
                </a:moveTo>
                <a:lnTo>
                  <a:pt x="685799" y="561974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1521238" y="4494466"/>
            <a:ext cx="312420" cy="275590"/>
            <a:chOff x="1521238" y="4494466"/>
            <a:chExt cx="312420" cy="275590"/>
          </a:xfrm>
        </p:grpSpPr>
        <p:sp>
          <p:nvSpPr>
            <p:cNvPr id="22" name="object 22"/>
            <p:cNvSpPr/>
            <p:nvPr/>
          </p:nvSpPr>
          <p:spPr>
            <a:xfrm>
              <a:off x="1545050" y="4678966"/>
              <a:ext cx="29209" cy="17145"/>
            </a:xfrm>
            <a:custGeom>
              <a:avLst/>
              <a:gdLst/>
              <a:ahLst/>
              <a:cxnLst/>
              <a:rect l="l" t="t" r="r" b="b"/>
              <a:pathLst>
                <a:path w="29209" h="17145">
                  <a:moveTo>
                    <a:pt x="0" y="16667"/>
                  </a:moveTo>
                  <a:lnTo>
                    <a:pt x="29146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74197" y="4683728"/>
              <a:ext cx="42545" cy="76200"/>
            </a:xfrm>
            <a:custGeom>
              <a:avLst/>
              <a:gdLst/>
              <a:ahLst/>
              <a:cxnLst/>
              <a:rect l="l" t="t" r="r" b="b"/>
              <a:pathLst>
                <a:path w="42544" h="76200">
                  <a:moveTo>
                    <a:pt x="0" y="0"/>
                  </a:moveTo>
                  <a:lnTo>
                    <a:pt x="42290" y="761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21238" y="4499228"/>
              <a:ext cx="312420" cy="260985"/>
            </a:xfrm>
            <a:custGeom>
              <a:avLst/>
              <a:gdLst/>
              <a:ahLst/>
              <a:cxnLst/>
              <a:rect l="l" t="t" r="r" b="b"/>
              <a:pathLst>
                <a:path w="312419" h="260985">
                  <a:moveTo>
                    <a:pt x="100012" y="260700"/>
                  </a:moveTo>
                  <a:lnTo>
                    <a:pt x="155923" y="33337"/>
                  </a:lnTo>
                </a:path>
                <a:path w="312419" h="260985">
                  <a:moveTo>
                    <a:pt x="155923" y="33337"/>
                  </a:moveTo>
                  <a:lnTo>
                    <a:pt x="292892" y="33337"/>
                  </a:lnTo>
                </a:path>
                <a:path w="312419" h="260985">
                  <a:moveTo>
                    <a:pt x="0" y="0"/>
                  </a:moveTo>
                  <a:lnTo>
                    <a:pt x="311942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1972436" y="4499228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4">
                <a:moveTo>
                  <a:pt x="0" y="0"/>
                </a:moveTo>
                <a:lnTo>
                  <a:pt x="170306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30295" y="4499228"/>
            <a:ext cx="595630" cy="0"/>
          </a:xfrm>
          <a:custGeom>
            <a:avLst/>
            <a:gdLst/>
            <a:ahLst/>
            <a:cxnLst/>
            <a:rect l="l" t="t" r="r" b="b"/>
            <a:pathLst>
              <a:path w="595629">
                <a:moveTo>
                  <a:pt x="0" y="0"/>
                </a:moveTo>
                <a:lnTo>
                  <a:pt x="595312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954208" y="4221766"/>
            <a:ext cx="80010" cy="0"/>
          </a:xfrm>
          <a:custGeom>
            <a:avLst/>
            <a:gdLst/>
            <a:ahLst/>
            <a:cxnLst/>
            <a:rect l="l" t="t" r="r" b="b"/>
            <a:pathLst>
              <a:path w="80010">
                <a:moveTo>
                  <a:pt x="0" y="0"/>
                </a:moveTo>
                <a:lnTo>
                  <a:pt x="79819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948006" y="3997610"/>
            <a:ext cx="95250" cy="40068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spc="-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215"/>
              </a:spcBef>
            </a:pPr>
            <a:r>
              <a:rPr sz="1050" spc="-5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50878" y="3065094"/>
            <a:ext cx="95250" cy="39751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5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204"/>
              </a:spcBef>
            </a:pPr>
            <a:r>
              <a:rPr sz="1050" spc="-5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07079" y="3256984"/>
            <a:ext cx="920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35171" y="3401802"/>
            <a:ext cx="920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92434" y="3154972"/>
            <a:ext cx="258445" cy="661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>
              <a:lnSpc>
                <a:spcPts val="994"/>
              </a:lnSpc>
              <a:spcBef>
                <a:spcPts val="100"/>
              </a:spcBef>
            </a:pPr>
            <a:r>
              <a:rPr sz="105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  <a:p>
            <a:pPr marL="38100">
              <a:lnSpc>
                <a:spcPts val="1875"/>
              </a:lnSpc>
            </a:pPr>
            <a:r>
              <a:rPr sz="2700" spc="-7" baseline="-12345" dirty="0">
                <a:latin typeface="Symbol"/>
                <a:cs typeface="Symbol"/>
              </a:rPr>
              <a:t></a:t>
            </a:r>
            <a:r>
              <a:rPr sz="2700" spc="-345" baseline="-12345" dirty="0">
                <a:latin typeface="Times New Roman"/>
                <a:cs typeface="Times New Roman"/>
              </a:rPr>
              <a:t> </a:t>
            </a:r>
            <a:r>
              <a:rPr sz="1050" spc="-5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  <a:p>
            <a:pPr marL="38100">
              <a:lnSpc>
                <a:spcPts val="2140"/>
              </a:lnSpc>
            </a:pPr>
            <a:r>
              <a:rPr sz="1800" spc="-350" dirty="0">
                <a:latin typeface="Symbol"/>
                <a:cs typeface="Symbol"/>
              </a:rPr>
              <a:t></a:t>
            </a:r>
            <a:r>
              <a:rPr sz="2700" spc="-525" baseline="-27777" dirty="0">
                <a:latin typeface="Symbol"/>
                <a:cs typeface="Symbol"/>
              </a:rPr>
              <a:t></a:t>
            </a:r>
            <a:endParaRPr sz="2700" baseline="-27777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1460" y="3578624"/>
            <a:ext cx="5137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75" dirty="0">
                <a:latin typeface="Times New Roman"/>
                <a:cs typeface="Times New Roman"/>
              </a:rPr>
              <a:t>O</a:t>
            </a:r>
            <a:r>
              <a:rPr sz="1050" spc="-5" dirty="0">
                <a:latin typeface="Times New Roman"/>
                <a:cs typeface="Times New Roman"/>
              </a:rPr>
              <a:t>(</a:t>
            </a:r>
            <a:r>
              <a:rPr sz="1050" spc="-145" dirty="0">
                <a:latin typeface="Times New Roman"/>
                <a:cs typeface="Times New Roman"/>
              </a:rPr>
              <a:t> </a:t>
            </a:r>
            <a:r>
              <a:rPr sz="1050" i="1" dirty="0">
                <a:latin typeface="Times New Roman"/>
                <a:cs typeface="Times New Roman"/>
              </a:rPr>
              <a:t>R</a:t>
            </a:r>
            <a:r>
              <a:rPr sz="1050" i="1" spc="-5" dirty="0">
                <a:latin typeface="Times New Roman"/>
                <a:cs typeface="Times New Roman"/>
              </a:rPr>
              <a:t>MS</a:t>
            </a:r>
            <a:r>
              <a:rPr sz="1050" i="1" spc="-125" dirty="0">
                <a:latin typeface="Times New Roman"/>
                <a:cs typeface="Times New Roman"/>
              </a:rPr>
              <a:t> </a:t>
            </a:r>
            <a:r>
              <a:rPr sz="1050" spc="-5" dirty="0"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361517" y="4493691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082029" y="360375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08308" y="3282111"/>
            <a:ext cx="264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7" baseline="-4629" dirty="0">
                <a:latin typeface="Symbol"/>
                <a:cs typeface="Symbol"/>
              </a:rPr>
              <a:t></a:t>
            </a:r>
            <a:r>
              <a:rPr sz="2700" spc="-240" baseline="-4629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15515" y="4333671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latin typeface="Symbol"/>
                <a:cs typeface="Symbol"/>
              </a:rPr>
              <a:t></a:t>
            </a:r>
            <a:r>
              <a:rPr sz="2700" spc="22" baseline="-12345" dirty="0">
                <a:latin typeface="Symbol"/>
                <a:cs typeface="Symbol"/>
              </a:rPr>
              <a:t></a:t>
            </a:r>
            <a:endParaRPr sz="2700" baseline="-12345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740915" y="4521124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5" dirty="0">
                <a:latin typeface="Symbol"/>
                <a:cs typeface="Symbol"/>
              </a:rPr>
              <a:t></a:t>
            </a:r>
            <a:r>
              <a:rPr sz="2700" spc="-7" baseline="-4629" dirty="0">
                <a:latin typeface="Symbol"/>
                <a:cs typeface="Symbol"/>
              </a:rPr>
              <a:t></a:t>
            </a:r>
            <a:endParaRPr sz="2700" baseline="-4629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63309" y="4539412"/>
            <a:ext cx="113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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40915" y="4187367"/>
            <a:ext cx="113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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126674" y="4157746"/>
            <a:ext cx="820419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9455" algn="l"/>
              </a:tabLst>
            </a:pPr>
            <a:r>
              <a:rPr sz="1800" spc="-10" dirty="0">
                <a:latin typeface="Times New Roman"/>
                <a:cs typeface="Times New Roman"/>
              </a:rPr>
              <a:t>si</a:t>
            </a:r>
            <a:r>
              <a:rPr sz="1800" spc="-5" dirty="0">
                <a:latin typeface="Times New Roman"/>
                <a:cs typeface="Times New Roman"/>
              </a:rPr>
              <a:t>n</a:t>
            </a:r>
            <a:r>
              <a:rPr sz="1800" spc="-13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Times New Roman"/>
                <a:cs typeface="Times New Roman"/>
              </a:rPr>
              <a:t>2</a:t>
            </a:r>
            <a:r>
              <a:rPr sz="1900" spc="-70" dirty="0">
                <a:latin typeface="Symbol"/>
                <a:cs typeface="Symbol"/>
              </a:rPr>
              <a:t>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Symbol"/>
                <a:cs typeface="Symbol"/>
              </a:rPr>
              <a:t>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61993" y="4521124"/>
            <a:ext cx="113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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161993" y="4187367"/>
            <a:ext cx="113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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271788" y="4242155"/>
            <a:ext cx="82613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330" dirty="0">
                <a:latin typeface="Symbol"/>
                <a:cs typeface="Symbol"/>
              </a:rPr>
              <a:t></a:t>
            </a:r>
            <a:r>
              <a:rPr sz="1900" spc="-60" dirty="0">
                <a:latin typeface="Symbol"/>
                <a:cs typeface="Symbol"/>
              </a:rPr>
              <a:t></a:t>
            </a:r>
            <a:r>
              <a:rPr sz="1900" spc="8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Symbol"/>
                <a:cs typeface="Symbol"/>
              </a:rPr>
              <a:t></a:t>
            </a:r>
            <a:r>
              <a:rPr sz="1800" spc="-285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</a:t>
            </a:r>
            <a:r>
              <a:rPr sz="1900" spc="-210" dirty="0">
                <a:latin typeface="Times New Roman"/>
                <a:cs typeface="Times New Roman"/>
              </a:rPr>
              <a:t> </a:t>
            </a:r>
            <a:r>
              <a:rPr sz="2350" spc="-30" dirty="0">
                <a:latin typeface="Symbol"/>
                <a:cs typeface="Symbol"/>
              </a:rPr>
              <a:t></a:t>
            </a:r>
            <a:r>
              <a:rPr sz="1800" spc="-5" dirty="0">
                <a:latin typeface="Symbol"/>
                <a:cs typeface="Symbol"/>
              </a:rPr>
              <a:t>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53455" y="4320738"/>
            <a:ext cx="64706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-43209" dirty="0">
                <a:latin typeface="Times New Roman"/>
                <a:cs typeface="Times New Roman"/>
              </a:rPr>
              <a:t>2</a:t>
            </a:r>
            <a:r>
              <a:rPr sz="2700" spc="97" baseline="-43209" dirty="0">
                <a:latin typeface="Times New Roman"/>
                <a:cs typeface="Times New Roman"/>
              </a:rPr>
              <a:t> </a:t>
            </a:r>
            <a:r>
              <a:rPr sz="2700" spc="7" baseline="-12345" dirty="0">
                <a:latin typeface="Symbol"/>
                <a:cs typeface="Symbol"/>
              </a:rPr>
              <a:t></a:t>
            </a:r>
            <a:r>
              <a:rPr sz="2850" spc="7" baseline="-36549" dirty="0">
                <a:latin typeface="Symbol"/>
                <a:cs typeface="Symbol"/>
              </a:rPr>
              <a:t></a:t>
            </a:r>
            <a:r>
              <a:rPr sz="2850" spc="127" baseline="-36549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Symbol"/>
                <a:cs typeface="Symbol"/>
              </a:rPr>
              <a:t>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301418" y="4170679"/>
            <a:ext cx="8521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-35493" dirty="0">
                <a:latin typeface="Symbol"/>
                <a:cs typeface="Symbol"/>
              </a:rPr>
              <a:t></a:t>
            </a:r>
            <a:r>
              <a:rPr sz="2700" spc="217" baseline="-35493" dirty="0">
                <a:latin typeface="Times New Roman"/>
                <a:cs typeface="Times New Roman"/>
              </a:rPr>
              <a:t> </a:t>
            </a:r>
            <a:r>
              <a:rPr sz="1800" i="1" spc="-35" dirty="0">
                <a:latin typeface="Times New Roman"/>
                <a:cs typeface="Times New Roman"/>
              </a:rPr>
              <a:t>V</a:t>
            </a:r>
            <a:r>
              <a:rPr sz="1575" i="1" spc="-7" baseline="-23809" dirty="0">
                <a:latin typeface="Times New Roman"/>
                <a:cs typeface="Times New Roman"/>
              </a:rPr>
              <a:t>m</a:t>
            </a:r>
            <a:r>
              <a:rPr sz="1575" i="1" baseline="-23809" dirty="0">
                <a:latin typeface="Times New Roman"/>
                <a:cs typeface="Times New Roman"/>
              </a:rPr>
              <a:t>  </a:t>
            </a:r>
            <a:r>
              <a:rPr sz="1575" i="1" spc="37" baseline="-23809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Symbol"/>
                <a:cs typeface="Symbol"/>
              </a:rPr>
              <a:t></a:t>
            </a:r>
            <a:r>
              <a:rPr sz="1800" spc="-1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638357" y="3233420"/>
            <a:ext cx="113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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483255" y="3452876"/>
            <a:ext cx="294005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640">
              <a:lnSpc>
                <a:spcPts val="1895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</a:t>
            </a:r>
            <a:endParaRPr sz="1800">
              <a:latin typeface="Symbol"/>
              <a:cs typeface="Symbol"/>
            </a:endParaRPr>
          </a:p>
          <a:p>
            <a:pPr marL="38100">
              <a:lnSpc>
                <a:spcPts val="1895"/>
              </a:lnSpc>
            </a:pPr>
            <a:r>
              <a:rPr sz="1100" spc="-35" dirty="0">
                <a:latin typeface="Symbol"/>
                <a:cs typeface="Symbol"/>
              </a:rPr>
              <a:t>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2700" spc="-525" baseline="1543" dirty="0">
                <a:latin typeface="Symbol"/>
                <a:cs typeface="Symbol"/>
              </a:rPr>
              <a:t></a:t>
            </a:r>
            <a:r>
              <a:rPr sz="2700" spc="-525" baseline="-9259" dirty="0">
                <a:latin typeface="Symbol"/>
                <a:cs typeface="Symbol"/>
              </a:rPr>
              <a:t></a:t>
            </a:r>
            <a:endParaRPr sz="2700" baseline="-9259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12301" y="3269177"/>
            <a:ext cx="65722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si</a:t>
            </a:r>
            <a:r>
              <a:rPr sz="1800" spc="-5" dirty="0">
                <a:latin typeface="Times New Roman"/>
                <a:cs typeface="Times New Roman"/>
              </a:rPr>
              <a:t>n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2</a:t>
            </a:r>
            <a:r>
              <a:rPr sz="1900" spc="-75" dirty="0">
                <a:latin typeface="Symbol"/>
                <a:cs typeface="Symbol"/>
              </a:rPr>
              <a:t></a:t>
            </a:r>
            <a:r>
              <a:rPr sz="1800" i="1" spc="-5" dirty="0">
                <a:latin typeface="Times New Roman"/>
                <a:cs typeface="Times New Roman"/>
              </a:rPr>
              <a:t>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869052" y="3233420"/>
            <a:ext cx="113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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662162" y="3425444"/>
            <a:ext cx="345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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2700" spc="-7" baseline="-6172" dirty="0">
                <a:latin typeface="Symbol"/>
                <a:cs typeface="Symbol"/>
              </a:rPr>
              <a:t></a:t>
            </a:r>
            <a:endParaRPr sz="2700" baseline="-6172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843652" y="3590818"/>
            <a:ext cx="44386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1042" baseline="-12345" dirty="0">
                <a:latin typeface="Symbol"/>
                <a:cs typeface="Symbol"/>
              </a:rPr>
              <a:t></a:t>
            </a:r>
            <a:r>
              <a:rPr sz="2700" spc="-7" baseline="-23148" dirty="0">
                <a:latin typeface="Symbol"/>
                <a:cs typeface="Symbol"/>
              </a:rPr>
              <a:t></a:t>
            </a:r>
            <a:r>
              <a:rPr sz="2700" spc="-75" baseline="-23148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2</a:t>
            </a:r>
            <a:r>
              <a:rPr sz="1900" spc="-60" dirty="0">
                <a:latin typeface="Symbol"/>
                <a:cs typeface="Symbol"/>
              </a:rPr>
              <a:t>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326818" y="3425444"/>
            <a:ext cx="151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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510313" y="3231169"/>
            <a:ext cx="9842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-30" dirty="0">
                <a:latin typeface="Symbol"/>
                <a:cs typeface="Symbol"/>
              </a:rPr>
              <a:t></a:t>
            </a:r>
            <a:endParaRPr sz="1100">
              <a:latin typeface="Symbol"/>
              <a:cs typeface="Symbo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913810" y="3340917"/>
            <a:ext cx="9842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-30" dirty="0">
                <a:latin typeface="Symbol"/>
                <a:cs typeface="Symbol"/>
              </a:rPr>
              <a:t></a:t>
            </a:r>
            <a:endParaRPr sz="1100">
              <a:latin typeface="Symbol"/>
              <a:cs typeface="Symbo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482908" y="3402583"/>
            <a:ext cx="5295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695" dirty="0">
                <a:latin typeface="Symbol"/>
                <a:cs typeface="Symbol"/>
              </a:rPr>
              <a:t></a:t>
            </a:r>
            <a:r>
              <a:rPr sz="2700" spc="104" baseline="-27777" dirty="0">
                <a:latin typeface="Symbol"/>
                <a:cs typeface="Symbol"/>
              </a:rPr>
              <a:t></a:t>
            </a:r>
            <a:r>
              <a:rPr sz="2850" spc="-89" baseline="-20467" dirty="0">
                <a:latin typeface="Symbol"/>
                <a:cs typeface="Symbol"/>
              </a:rPr>
              <a:t></a:t>
            </a:r>
            <a:r>
              <a:rPr sz="2850" spc="307" baseline="-20467" dirty="0">
                <a:latin typeface="Times New Roman"/>
                <a:cs typeface="Times New Roman"/>
              </a:rPr>
              <a:t> </a:t>
            </a:r>
            <a:r>
              <a:rPr sz="4050" spc="-412" baseline="1028" dirty="0">
                <a:latin typeface="Symbol"/>
                <a:cs typeface="Symbol"/>
              </a:rPr>
              <a:t></a:t>
            </a:r>
            <a:r>
              <a:rPr sz="1650" spc="-52" baseline="-12626" dirty="0">
                <a:latin typeface="Symbol"/>
                <a:cs typeface="Symbol"/>
              </a:rPr>
              <a:t></a:t>
            </a:r>
            <a:endParaRPr sz="1650" baseline="-12626">
              <a:latin typeface="Symbol"/>
              <a:cs typeface="Symbo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095896" y="3433807"/>
            <a:ext cx="1219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5" dirty="0">
                <a:latin typeface="Times New Roman"/>
                <a:cs typeface="Times New Roman"/>
              </a:rPr>
              <a:t>m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364361" y="3412510"/>
            <a:ext cx="42354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60" dirty="0">
                <a:latin typeface="Symbol"/>
                <a:cs typeface="Symbol"/>
              </a:rPr>
              <a:t></a:t>
            </a:r>
            <a:r>
              <a:rPr sz="1800" i="1" spc="-5" dirty="0">
                <a:latin typeface="Times New Roman"/>
                <a:cs typeface="Times New Roman"/>
              </a:rPr>
              <a:t>t</a:t>
            </a:r>
            <a:r>
              <a:rPr sz="1800" i="1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Symbol"/>
                <a:cs typeface="Symbol"/>
              </a:rPr>
              <a:t>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123855" y="3578624"/>
            <a:ext cx="1219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5" dirty="0">
                <a:latin typeface="Times New Roman"/>
                <a:cs typeface="Times New Roman"/>
              </a:rPr>
              <a:t>m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962855" y="3412510"/>
            <a:ext cx="148717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99415" algn="l"/>
              </a:tabLst>
            </a:pPr>
            <a:r>
              <a:rPr sz="1800" i="1" spc="-5" dirty="0">
                <a:latin typeface="Times New Roman"/>
                <a:cs typeface="Times New Roman"/>
              </a:rPr>
              <a:t>V	</a:t>
            </a:r>
            <a:r>
              <a:rPr sz="1800" spc="-10" dirty="0">
                <a:latin typeface="Times New Roman"/>
                <a:cs typeface="Times New Roman"/>
              </a:rPr>
              <a:t>si</a:t>
            </a:r>
            <a:r>
              <a:rPr sz="1800" spc="150" dirty="0">
                <a:latin typeface="Times New Roman"/>
                <a:cs typeface="Times New Roman"/>
              </a:rPr>
              <a:t>n</a:t>
            </a:r>
            <a:r>
              <a:rPr sz="1575" spc="-7" baseline="42328" dirty="0">
                <a:latin typeface="Times New Roman"/>
                <a:cs typeface="Times New Roman"/>
              </a:rPr>
              <a:t>2</a:t>
            </a:r>
            <a:r>
              <a:rPr sz="1575" spc="82" baseline="42328" dirty="0">
                <a:latin typeface="Times New Roman"/>
                <a:cs typeface="Times New Roman"/>
              </a:rPr>
              <a:t> </a:t>
            </a:r>
            <a:r>
              <a:rPr sz="1900" spc="-75" dirty="0">
                <a:latin typeface="Symbol"/>
                <a:cs typeface="Symbol"/>
              </a:rPr>
              <a:t></a:t>
            </a:r>
            <a:r>
              <a:rPr sz="1800" i="1" spc="30" dirty="0">
                <a:latin typeface="Times New Roman"/>
                <a:cs typeface="Times New Roman"/>
              </a:rPr>
              <a:t>t</a:t>
            </a:r>
            <a:r>
              <a:rPr sz="1800" spc="-5" dirty="0">
                <a:latin typeface="Times New Roman"/>
                <a:cs typeface="Times New Roman"/>
              </a:rPr>
              <a:t>.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d</a:t>
            </a:r>
            <a:r>
              <a:rPr sz="1900" spc="-75" dirty="0">
                <a:latin typeface="Symbol"/>
                <a:cs typeface="Symbol"/>
              </a:rPr>
              <a:t></a:t>
            </a:r>
            <a:r>
              <a:rPr sz="1800" i="1" spc="-5" dirty="0">
                <a:latin typeface="Times New Roman"/>
                <a:cs typeface="Times New Roman"/>
              </a:rPr>
              <a:t>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960481" y="3280740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30496" y="3425444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506473" y="5628513"/>
            <a:ext cx="648970" cy="0"/>
          </a:xfrm>
          <a:custGeom>
            <a:avLst/>
            <a:gdLst/>
            <a:ahLst/>
            <a:cxnLst/>
            <a:rect l="l" t="t" r="r" b="b"/>
            <a:pathLst>
              <a:path w="648969">
                <a:moveTo>
                  <a:pt x="0" y="0"/>
                </a:moveTo>
                <a:lnTo>
                  <a:pt x="648557" y="0"/>
                </a:lnTo>
              </a:path>
            </a:pathLst>
          </a:custGeom>
          <a:ln w="95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1752151" y="5622855"/>
            <a:ext cx="1651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286395" y="5328667"/>
            <a:ext cx="8718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-27777" dirty="0">
                <a:latin typeface="Symbol"/>
                <a:cs typeface="Symbol"/>
              </a:rPr>
              <a:t></a:t>
            </a:r>
            <a:r>
              <a:rPr sz="2700" spc="-75" baseline="-27777" dirty="0">
                <a:latin typeface="Times New Roman"/>
                <a:cs typeface="Times New Roman"/>
              </a:rPr>
              <a:t> </a:t>
            </a:r>
            <a:r>
              <a:rPr sz="2700" i="1" spc="-112" baseline="13888" dirty="0">
                <a:latin typeface="Times New Roman"/>
                <a:cs typeface="Times New Roman"/>
              </a:rPr>
              <a:t>V</a:t>
            </a:r>
            <a:r>
              <a:rPr sz="1050" i="1" spc="75" dirty="0">
                <a:latin typeface="Times New Roman"/>
                <a:cs typeface="Times New Roman"/>
              </a:rPr>
              <a:t>O</a:t>
            </a:r>
            <a:r>
              <a:rPr sz="1050" spc="-5" dirty="0">
                <a:latin typeface="Times New Roman"/>
                <a:cs typeface="Times New Roman"/>
              </a:rPr>
              <a:t>(</a:t>
            </a:r>
            <a:r>
              <a:rPr sz="1050" spc="-145" dirty="0">
                <a:latin typeface="Times New Roman"/>
                <a:cs typeface="Times New Roman"/>
              </a:rPr>
              <a:t> </a:t>
            </a:r>
            <a:r>
              <a:rPr sz="1050" i="1" dirty="0">
                <a:latin typeface="Times New Roman"/>
                <a:cs typeface="Times New Roman"/>
              </a:rPr>
              <a:t>R</a:t>
            </a:r>
            <a:r>
              <a:rPr sz="1050" i="1" spc="-5" dirty="0">
                <a:latin typeface="Times New Roman"/>
                <a:cs typeface="Times New Roman"/>
              </a:rPr>
              <a:t>MS</a:t>
            </a:r>
            <a:r>
              <a:rPr sz="1050" i="1" spc="-125" dirty="0">
                <a:latin typeface="Times New Roman"/>
                <a:cs typeface="Times New Roman"/>
              </a:rPr>
              <a:t> </a:t>
            </a:r>
            <a:r>
              <a:rPr sz="1050" spc="-5" dirty="0"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57765" y="5444557"/>
            <a:ext cx="101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47773" y="5596132"/>
            <a:ext cx="51180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75" dirty="0">
                <a:latin typeface="Times New Roman"/>
                <a:cs typeface="Times New Roman"/>
              </a:rPr>
              <a:t>O</a:t>
            </a:r>
            <a:r>
              <a:rPr sz="1050" spc="-5" dirty="0">
                <a:latin typeface="Times New Roman"/>
                <a:cs typeface="Times New Roman"/>
              </a:rPr>
              <a:t>(</a:t>
            </a:r>
            <a:r>
              <a:rPr sz="1050" spc="-160" dirty="0">
                <a:latin typeface="Times New Roman"/>
                <a:cs typeface="Times New Roman"/>
              </a:rPr>
              <a:t> </a:t>
            </a:r>
            <a:r>
              <a:rPr sz="1050" i="1" dirty="0">
                <a:latin typeface="Times New Roman"/>
                <a:cs typeface="Times New Roman"/>
              </a:rPr>
              <a:t>R</a:t>
            </a:r>
            <a:r>
              <a:rPr sz="1050" i="1" spc="-5" dirty="0">
                <a:latin typeface="Times New Roman"/>
                <a:cs typeface="Times New Roman"/>
              </a:rPr>
              <a:t>MS</a:t>
            </a:r>
            <a:r>
              <a:rPr sz="1050" i="1" spc="-125" dirty="0">
                <a:latin typeface="Times New Roman"/>
                <a:cs typeface="Times New Roman"/>
              </a:rPr>
              <a:t> </a:t>
            </a:r>
            <a:r>
              <a:rPr sz="1050" spc="-5" dirty="0"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260151" y="5622035"/>
            <a:ext cx="1335405" cy="0"/>
          </a:xfrm>
          <a:custGeom>
            <a:avLst/>
            <a:gdLst/>
            <a:ahLst/>
            <a:cxnLst/>
            <a:rect l="l" t="t" r="r" b="b"/>
            <a:pathLst>
              <a:path w="1335404">
                <a:moveTo>
                  <a:pt x="0" y="0"/>
                </a:moveTo>
                <a:lnTo>
                  <a:pt x="1334929" y="0"/>
                </a:lnTo>
              </a:path>
            </a:pathLst>
          </a:custGeom>
          <a:ln w="95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838063" y="5622035"/>
            <a:ext cx="645160" cy="0"/>
          </a:xfrm>
          <a:custGeom>
            <a:avLst/>
            <a:gdLst/>
            <a:ahLst/>
            <a:cxnLst/>
            <a:rect l="l" t="t" r="r" b="b"/>
            <a:pathLst>
              <a:path w="645160">
                <a:moveTo>
                  <a:pt x="0" y="0"/>
                </a:moveTo>
                <a:lnTo>
                  <a:pt x="644842" y="0"/>
                </a:lnTo>
              </a:path>
            </a:pathLst>
          </a:custGeom>
          <a:ln w="95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5794219" y="5617032"/>
            <a:ext cx="688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spc="-25" dirty="0">
                <a:latin typeface="Times New Roman"/>
                <a:cs typeface="Times New Roman"/>
              </a:rPr>
              <a:t>V</a:t>
            </a:r>
            <a:r>
              <a:rPr sz="1575" i="1" spc="-7" baseline="-23809" dirty="0">
                <a:latin typeface="Times New Roman"/>
                <a:cs typeface="Times New Roman"/>
              </a:rPr>
              <a:t>S</a:t>
            </a:r>
            <a:r>
              <a:rPr sz="1575" i="1" baseline="-23809" dirty="0">
                <a:latin typeface="Times New Roman"/>
                <a:cs typeface="Times New Roman"/>
              </a:rPr>
              <a:t> </a:t>
            </a:r>
            <a:r>
              <a:rPr sz="1575" i="1" spc="-82" baseline="-23809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Symbol"/>
                <a:cs typeface="Symbol"/>
              </a:rPr>
              <a:t>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i="1" spc="90" dirty="0">
                <a:latin typeface="Times New Roman"/>
                <a:cs typeface="Times New Roman"/>
              </a:rPr>
              <a:t>I</a:t>
            </a:r>
            <a:r>
              <a:rPr sz="1575" i="1" spc="-7" baseline="-23809" dirty="0">
                <a:latin typeface="Times New Roman"/>
                <a:cs typeface="Times New Roman"/>
              </a:rPr>
              <a:t>O</a:t>
            </a:r>
            <a:endParaRPr sz="1575" baseline="-23809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14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71" name="object 71"/>
          <p:cNvSpPr txBox="1"/>
          <p:nvPr/>
        </p:nvSpPr>
        <p:spPr>
          <a:xfrm>
            <a:off x="3119127" y="5293791"/>
            <a:ext cx="3183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933700" algn="l"/>
              </a:tabLst>
            </a:pPr>
            <a:r>
              <a:rPr sz="2700" i="1" spc="-7" baseline="-35493" dirty="0">
                <a:latin typeface="Times New Roman"/>
                <a:cs typeface="Times New Roman"/>
              </a:rPr>
              <a:t>Input</a:t>
            </a:r>
            <a:r>
              <a:rPr sz="2700" i="1" spc="187" baseline="-35493" dirty="0">
                <a:latin typeface="Times New Roman"/>
                <a:cs typeface="Times New Roman"/>
              </a:rPr>
              <a:t> </a:t>
            </a:r>
            <a:r>
              <a:rPr sz="2700" i="1" spc="-7" baseline="-35493" dirty="0">
                <a:latin typeface="Times New Roman"/>
                <a:cs typeface="Times New Roman"/>
              </a:rPr>
              <a:t>PF</a:t>
            </a:r>
            <a:r>
              <a:rPr sz="2700" i="1" spc="202" baseline="-35493" dirty="0">
                <a:latin typeface="Times New Roman"/>
                <a:cs typeface="Times New Roman"/>
              </a:rPr>
              <a:t> </a:t>
            </a:r>
            <a:r>
              <a:rPr sz="2700" spc="-7" baseline="-35493" dirty="0">
                <a:latin typeface="Symbol"/>
                <a:cs typeface="Symbol"/>
              </a:rPr>
              <a:t></a:t>
            </a:r>
            <a:r>
              <a:rPr sz="2700" spc="97" baseline="-35493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Output</a:t>
            </a:r>
            <a:r>
              <a:rPr sz="1800" i="1" spc="13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Power</a:t>
            </a:r>
            <a:r>
              <a:rPr sz="1800" i="1" spc="204" dirty="0">
                <a:latin typeface="Times New Roman"/>
                <a:cs typeface="Times New Roman"/>
              </a:rPr>
              <a:t> </a:t>
            </a:r>
            <a:r>
              <a:rPr sz="2700" spc="-7" baseline="-35493" dirty="0">
                <a:latin typeface="Symbol"/>
                <a:cs typeface="Symbol"/>
              </a:rPr>
              <a:t></a:t>
            </a:r>
            <a:r>
              <a:rPr sz="2700" spc="-7" baseline="-35493" dirty="0">
                <a:latin typeface="Times New Roman"/>
                <a:cs typeface="Times New Roman"/>
              </a:rPr>
              <a:t>	</a:t>
            </a:r>
            <a:r>
              <a:rPr sz="1800" i="1" spc="-155" dirty="0">
                <a:latin typeface="Times New Roman"/>
                <a:cs typeface="Times New Roman"/>
              </a:rPr>
              <a:t>P</a:t>
            </a:r>
            <a:r>
              <a:rPr sz="1575" i="1" spc="-232" baseline="-23809" dirty="0">
                <a:latin typeface="Times New Roman"/>
                <a:cs typeface="Times New Roman"/>
              </a:rPr>
              <a:t>O</a:t>
            </a:r>
            <a:endParaRPr sz="1575" baseline="-23809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522737" y="5617032"/>
            <a:ext cx="829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Times New Roman"/>
                <a:cs typeface="Times New Roman"/>
              </a:rPr>
              <a:t>In</a:t>
            </a:r>
            <a:r>
              <a:rPr sz="1800" i="1" dirty="0">
                <a:latin typeface="Times New Roman"/>
                <a:cs typeface="Times New Roman"/>
              </a:rPr>
              <a:t>p</a:t>
            </a:r>
            <a:r>
              <a:rPr sz="1800" i="1" spc="-5" dirty="0">
                <a:latin typeface="Times New Roman"/>
                <a:cs typeface="Times New Roman"/>
              </a:rPr>
              <a:t>ut</a:t>
            </a:r>
            <a:r>
              <a:rPr sz="1800" i="1" spc="-12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V</a:t>
            </a:r>
            <a:r>
              <a:rPr sz="1800" i="1" spc="-5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3071" y="354431"/>
            <a:ext cx="50590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0" dirty="0">
                <a:solidFill>
                  <a:srgbClr val="002060"/>
                </a:solidFill>
                <a:latin typeface="Calibri Light"/>
                <a:cs typeface="Calibri Light"/>
              </a:rPr>
              <a:t>B</a:t>
            </a:r>
            <a:r>
              <a:rPr sz="3600" spc="-75" dirty="0">
                <a:solidFill>
                  <a:srgbClr val="002060"/>
                </a:solidFill>
                <a:latin typeface="Calibri Light"/>
                <a:cs typeface="Calibri Light"/>
              </a:rPr>
              <a:t>asi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c</a:t>
            </a:r>
            <a:r>
              <a:rPr sz="3600" spc="-175" dirty="0">
                <a:solidFill>
                  <a:srgbClr val="002060"/>
                </a:solidFill>
                <a:latin typeface="Calibri Light"/>
                <a:cs typeface="Calibri Light"/>
              </a:rPr>
              <a:t> </a:t>
            </a:r>
            <a:r>
              <a:rPr sz="3600" spc="-70" dirty="0">
                <a:solidFill>
                  <a:srgbClr val="002060"/>
                </a:solidFill>
                <a:latin typeface="Calibri Light"/>
                <a:cs typeface="Calibri Light"/>
              </a:rPr>
              <a:t>C</a:t>
            </a:r>
            <a:r>
              <a:rPr sz="3600" spc="-80" dirty="0">
                <a:solidFill>
                  <a:srgbClr val="002060"/>
                </a:solidFill>
                <a:latin typeface="Calibri Light"/>
                <a:cs typeface="Calibri Light"/>
              </a:rPr>
              <a:t>o</a:t>
            </a:r>
            <a:r>
              <a:rPr sz="3600" spc="-120" dirty="0">
                <a:solidFill>
                  <a:srgbClr val="002060"/>
                </a:solidFill>
                <a:latin typeface="Calibri Light"/>
                <a:cs typeface="Calibri Light"/>
              </a:rPr>
              <a:t>n</a:t>
            </a:r>
            <a:r>
              <a:rPr sz="3600" spc="-80" dirty="0">
                <a:solidFill>
                  <a:srgbClr val="002060"/>
                </a:solidFill>
                <a:latin typeface="Calibri Light"/>
                <a:cs typeface="Calibri Light"/>
              </a:rPr>
              <a:t>t</a:t>
            </a:r>
            <a:r>
              <a:rPr sz="3600" spc="-150" dirty="0">
                <a:solidFill>
                  <a:srgbClr val="002060"/>
                </a:solidFill>
                <a:latin typeface="Calibri Light"/>
                <a:cs typeface="Calibri Light"/>
              </a:rPr>
              <a:t>r</a:t>
            </a:r>
            <a:r>
              <a:rPr sz="3600" spc="-90" dirty="0">
                <a:solidFill>
                  <a:srgbClr val="002060"/>
                </a:solidFill>
                <a:latin typeface="Calibri Light"/>
                <a:cs typeface="Calibri Light"/>
              </a:rPr>
              <a:t>o</a:t>
            </a:r>
            <a:r>
              <a:rPr sz="3600" spc="-65" dirty="0">
                <a:solidFill>
                  <a:srgbClr val="002060"/>
                </a:solidFill>
                <a:latin typeface="Calibri Light"/>
                <a:cs typeface="Calibri Light"/>
              </a:rPr>
              <a:t>l</a:t>
            </a:r>
            <a:r>
              <a:rPr sz="3600" spc="-75" dirty="0">
                <a:solidFill>
                  <a:srgbClr val="002060"/>
                </a:solidFill>
                <a:latin typeface="Calibri Light"/>
                <a:cs typeface="Calibri Light"/>
              </a:rPr>
              <a:t>le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r</a:t>
            </a:r>
            <a:r>
              <a:rPr sz="3600" spc="-185" dirty="0">
                <a:solidFill>
                  <a:srgbClr val="002060"/>
                </a:solidFill>
                <a:latin typeface="Calibri Light"/>
                <a:cs typeface="Calibri Light"/>
              </a:rPr>
              <a:t> </a:t>
            </a:r>
            <a:r>
              <a:rPr sz="3600" spc="-80" dirty="0">
                <a:solidFill>
                  <a:srgbClr val="002060"/>
                </a:solidFill>
                <a:latin typeface="Calibri Light"/>
                <a:cs typeface="Calibri Light"/>
              </a:rPr>
              <a:t>w</a:t>
            </a:r>
            <a:r>
              <a:rPr sz="3600" spc="-65" dirty="0">
                <a:solidFill>
                  <a:srgbClr val="002060"/>
                </a:solidFill>
                <a:latin typeface="Calibri Light"/>
                <a:cs typeface="Calibri Light"/>
              </a:rPr>
              <a:t>i</a:t>
            </a:r>
            <a:r>
              <a:rPr sz="3600" spc="-70" dirty="0">
                <a:solidFill>
                  <a:srgbClr val="002060"/>
                </a:solidFill>
                <a:latin typeface="Calibri Light"/>
                <a:cs typeface="Calibri Light"/>
              </a:rPr>
              <a:t>t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h</a:t>
            </a:r>
            <a:r>
              <a:rPr sz="3600" spc="-180" dirty="0">
                <a:solidFill>
                  <a:srgbClr val="002060"/>
                </a:solidFill>
                <a:latin typeface="Calibri Light"/>
                <a:cs typeface="Calibri Light"/>
              </a:rPr>
              <a:t> </a:t>
            </a:r>
            <a:r>
              <a:rPr sz="3600" spc="-70" dirty="0">
                <a:solidFill>
                  <a:srgbClr val="002060"/>
                </a:solidFill>
                <a:latin typeface="Calibri Light"/>
                <a:cs typeface="Calibri Light"/>
              </a:rPr>
              <a:t>R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L</a:t>
            </a:r>
            <a:r>
              <a:rPr sz="3600" spc="-175" dirty="0">
                <a:solidFill>
                  <a:srgbClr val="002060"/>
                </a:solidFill>
                <a:latin typeface="Calibri Light"/>
                <a:cs typeface="Calibri Light"/>
              </a:rPr>
              <a:t> </a:t>
            </a:r>
            <a:r>
              <a:rPr sz="3600" spc="-60" dirty="0">
                <a:solidFill>
                  <a:srgbClr val="002060"/>
                </a:solidFill>
                <a:latin typeface="Calibri Light"/>
                <a:cs typeface="Calibri Light"/>
              </a:rPr>
              <a:t>L</a:t>
            </a:r>
            <a:r>
              <a:rPr sz="3600" spc="-80" dirty="0">
                <a:solidFill>
                  <a:srgbClr val="002060"/>
                </a:solidFill>
                <a:latin typeface="Calibri Light"/>
                <a:cs typeface="Calibri Light"/>
              </a:rPr>
              <a:t>o</a:t>
            </a:r>
            <a:r>
              <a:rPr sz="3600" spc="-90" dirty="0">
                <a:solidFill>
                  <a:srgbClr val="002060"/>
                </a:solidFill>
                <a:latin typeface="Calibri Light"/>
                <a:cs typeface="Calibri Light"/>
              </a:rPr>
              <a:t>a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d</a:t>
            </a:r>
            <a:endParaRPr sz="36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5946" y="1338072"/>
            <a:ext cx="2299691" cy="44227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96544" y="3576320"/>
            <a:ext cx="4370705" cy="2159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51155" indent="-343535">
              <a:lnSpc>
                <a:spcPct val="100000"/>
              </a:lnSpc>
              <a:spcBef>
                <a:spcPts val="105"/>
              </a:spcBef>
              <a:buClr>
                <a:srgbClr val="E48312"/>
              </a:buClr>
              <a:buSzPct val="75000"/>
              <a:buFont typeface="Wingdings"/>
              <a:buChar char=""/>
              <a:tabLst>
                <a:tab pos="354965" algn="l"/>
                <a:tab pos="356235" algn="l"/>
              </a:tabLst>
            </a:pPr>
            <a:r>
              <a:rPr sz="2000" dirty="0">
                <a:latin typeface="Calibri"/>
                <a:cs typeface="Calibri"/>
              </a:rPr>
              <a:t>Output </a:t>
            </a:r>
            <a:r>
              <a:rPr sz="2000" spc="-10" dirty="0">
                <a:latin typeface="Calibri"/>
                <a:cs typeface="Calibri"/>
              </a:rPr>
              <a:t>current extends beyond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zero</a:t>
            </a:r>
            <a:r>
              <a:rPr sz="2000" spc="-10" dirty="0">
                <a:latin typeface="Calibri"/>
                <a:cs typeface="Calibri"/>
              </a:rPr>
              <a:t> crossing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input</a:t>
            </a:r>
            <a:r>
              <a:rPr sz="2000" spc="-10" dirty="0">
                <a:latin typeface="Calibri"/>
                <a:cs typeface="Calibri"/>
              </a:rPr>
              <a:t> voltage</a:t>
            </a:r>
            <a:endParaRPr sz="20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1200"/>
              </a:spcBef>
              <a:buClr>
                <a:srgbClr val="E48312"/>
              </a:buClr>
              <a:buSzPct val="75000"/>
              <a:buFont typeface="Wingdings"/>
              <a:buChar char=""/>
              <a:tabLst>
                <a:tab pos="354965" algn="l"/>
                <a:tab pos="356235" algn="l"/>
              </a:tabLst>
            </a:pPr>
            <a:r>
              <a:rPr sz="2000" dirty="0">
                <a:latin typeface="Calibri"/>
                <a:cs typeface="Calibri"/>
              </a:rPr>
              <a:t>Output </a:t>
            </a:r>
            <a:r>
              <a:rPr sz="2000" spc="-10" dirty="0">
                <a:latin typeface="Calibri"/>
                <a:cs typeface="Calibri"/>
              </a:rPr>
              <a:t>voltage </a:t>
            </a:r>
            <a:r>
              <a:rPr sz="2000" spc="-15" dirty="0">
                <a:latin typeface="Calibri"/>
                <a:cs typeface="Calibri"/>
              </a:rPr>
              <a:t>follows </a:t>
            </a:r>
            <a:r>
              <a:rPr sz="2000" spc="-5" dirty="0">
                <a:latin typeface="Calibri"/>
                <a:cs typeface="Calibri"/>
              </a:rPr>
              <a:t>input </a:t>
            </a:r>
            <a:r>
              <a:rPr sz="2000" dirty="0">
                <a:latin typeface="Calibri"/>
                <a:cs typeface="Calibri"/>
              </a:rPr>
              <a:t>as </a:t>
            </a:r>
            <a:r>
              <a:rPr sz="2000" spc="-5" dirty="0">
                <a:latin typeface="Calibri"/>
                <a:cs typeface="Calibri"/>
              </a:rPr>
              <a:t>long </a:t>
            </a:r>
            <a:r>
              <a:rPr sz="2000" dirty="0">
                <a:latin typeface="Calibri"/>
                <a:cs typeface="Calibri"/>
              </a:rPr>
              <a:t>as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current</a:t>
            </a:r>
            <a:r>
              <a:rPr sz="2000" spc="-5" dirty="0">
                <a:latin typeface="Calibri"/>
                <a:cs typeface="Calibri"/>
              </a:rPr>
              <a:t> is </a:t>
            </a:r>
            <a:r>
              <a:rPr sz="2000" spc="-10" dirty="0">
                <a:latin typeface="Calibri"/>
                <a:cs typeface="Calibri"/>
              </a:rPr>
              <a:t>present</a:t>
            </a:r>
            <a:endParaRPr sz="2000">
              <a:latin typeface="Calibri"/>
              <a:cs typeface="Calibri"/>
            </a:endParaRPr>
          </a:p>
          <a:p>
            <a:pPr marL="355600" marR="610235" indent="-343535">
              <a:lnSpc>
                <a:spcPct val="100000"/>
              </a:lnSpc>
              <a:spcBef>
                <a:spcPts val="1200"/>
              </a:spcBef>
              <a:buClr>
                <a:srgbClr val="E48312"/>
              </a:buClr>
              <a:buSzPct val="75000"/>
              <a:buFont typeface="Wingdings"/>
              <a:buChar char=""/>
              <a:tabLst>
                <a:tab pos="354965" algn="l"/>
                <a:tab pos="356235" algn="l"/>
              </a:tabLst>
            </a:pPr>
            <a:r>
              <a:rPr sz="2000" spc="-10" dirty="0">
                <a:latin typeface="Calibri"/>
                <a:cs typeface="Calibri"/>
              </a:rPr>
              <a:t>Control </a:t>
            </a:r>
            <a:r>
              <a:rPr sz="2000" spc="-15" dirty="0">
                <a:latin typeface="Calibri"/>
                <a:cs typeface="Calibri"/>
              </a:rPr>
              <a:t>may </a:t>
            </a:r>
            <a:r>
              <a:rPr sz="2000" spc="-5" dirty="0">
                <a:latin typeface="Calibri"/>
                <a:cs typeface="Calibri"/>
              </a:rPr>
              <a:t>not be possible with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highly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inductive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loads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55419" y="1383791"/>
            <a:ext cx="2609215" cy="1393190"/>
            <a:chOff x="1455419" y="1383791"/>
            <a:chExt cx="2609215" cy="139319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17291" y="1662684"/>
              <a:ext cx="121919" cy="914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39567" y="1927859"/>
              <a:ext cx="211835" cy="23317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2907" y="1383791"/>
              <a:ext cx="210311" cy="23164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4375" y="2205252"/>
              <a:ext cx="249935" cy="15613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63039" y="1772411"/>
              <a:ext cx="2514600" cy="996950"/>
            </a:xfrm>
            <a:custGeom>
              <a:avLst/>
              <a:gdLst/>
              <a:ahLst/>
              <a:cxnLst/>
              <a:rect l="l" t="t" r="r" b="b"/>
              <a:pathLst>
                <a:path w="2514600" h="996950">
                  <a:moveTo>
                    <a:pt x="297179" y="510539"/>
                  </a:moveTo>
                  <a:lnTo>
                    <a:pt x="289547" y="463564"/>
                  </a:lnTo>
                  <a:lnTo>
                    <a:pt x="268309" y="422952"/>
                  </a:lnTo>
                  <a:lnTo>
                    <a:pt x="235951" y="391046"/>
                  </a:lnTo>
                  <a:lnTo>
                    <a:pt x="194962" y="370185"/>
                  </a:lnTo>
                  <a:lnTo>
                    <a:pt x="147827" y="362711"/>
                  </a:lnTo>
                  <a:lnTo>
                    <a:pt x="100852" y="370185"/>
                  </a:lnTo>
                  <a:lnTo>
                    <a:pt x="60240" y="391046"/>
                  </a:lnTo>
                  <a:lnTo>
                    <a:pt x="28334" y="422952"/>
                  </a:lnTo>
                  <a:lnTo>
                    <a:pt x="7473" y="463564"/>
                  </a:lnTo>
                  <a:lnTo>
                    <a:pt x="0" y="510539"/>
                  </a:lnTo>
                  <a:lnTo>
                    <a:pt x="7473" y="557674"/>
                  </a:lnTo>
                  <a:lnTo>
                    <a:pt x="28334" y="598663"/>
                  </a:lnTo>
                  <a:lnTo>
                    <a:pt x="60240" y="631021"/>
                  </a:lnTo>
                  <a:lnTo>
                    <a:pt x="100852" y="652259"/>
                  </a:lnTo>
                  <a:lnTo>
                    <a:pt x="147827" y="659891"/>
                  </a:lnTo>
                  <a:lnTo>
                    <a:pt x="194962" y="652259"/>
                  </a:lnTo>
                  <a:lnTo>
                    <a:pt x="235951" y="631021"/>
                  </a:lnTo>
                  <a:lnTo>
                    <a:pt x="268309" y="598663"/>
                  </a:lnTo>
                  <a:lnTo>
                    <a:pt x="289547" y="557674"/>
                  </a:lnTo>
                  <a:lnTo>
                    <a:pt x="297179" y="510539"/>
                  </a:lnTo>
                </a:path>
                <a:path w="2514600" h="996950">
                  <a:moveTo>
                    <a:pt x="147827" y="362711"/>
                  </a:moveTo>
                  <a:lnTo>
                    <a:pt x="147827" y="0"/>
                  </a:lnTo>
                </a:path>
                <a:path w="2514600" h="996950">
                  <a:moveTo>
                    <a:pt x="147827" y="0"/>
                  </a:moveTo>
                  <a:lnTo>
                    <a:pt x="868679" y="0"/>
                  </a:lnTo>
                </a:path>
                <a:path w="2514600" h="996950">
                  <a:moveTo>
                    <a:pt x="2514599" y="615695"/>
                  </a:moveTo>
                  <a:lnTo>
                    <a:pt x="2514599" y="996695"/>
                  </a:lnTo>
                  <a:lnTo>
                    <a:pt x="147827" y="996695"/>
                  </a:lnTo>
                  <a:lnTo>
                    <a:pt x="147827" y="670559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4228" y="2212847"/>
              <a:ext cx="132587" cy="1569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60647" y="2164080"/>
              <a:ext cx="92963" cy="1036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41419" y="2247900"/>
              <a:ext cx="67055" cy="7315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41547" y="1772411"/>
              <a:ext cx="736600" cy="271780"/>
            </a:xfrm>
            <a:custGeom>
              <a:avLst/>
              <a:gdLst/>
              <a:ahLst/>
              <a:cxnLst/>
              <a:rect l="l" t="t" r="r" b="b"/>
              <a:pathLst>
                <a:path w="736600" h="271780">
                  <a:moveTo>
                    <a:pt x="736091" y="271271"/>
                  </a:moveTo>
                  <a:lnTo>
                    <a:pt x="736091" y="0"/>
                  </a:lnTo>
                  <a:lnTo>
                    <a:pt x="0" y="0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96868" y="2029968"/>
              <a:ext cx="160020" cy="489584"/>
            </a:xfrm>
            <a:custGeom>
              <a:avLst/>
              <a:gdLst/>
              <a:ahLst/>
              <a:cxnLst/>
              <a:rect l="l" t="t" r="r" b="b"/>
              <a:pathLst>
                <a:path w="160020" h="489585">
                  <a:moveTo>
                    <a:pt x="160020" y="0"/>
                  </a:moveTo>
                  <a:lnTo>
                    <a:pt x="0" y="0"/>
                  </a:lnTo>
                  <a:lnTo>
                    <a:pt x="0" y="489204"/>
                  </a:lnTo>
                  <a:lnTo>
                    <a:pt x="160020" y="489204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96867" y="2029967"/>
              <a:ext cx="160020" cy="489584"/>
            </a:xfrm>
            <a:custGeom>
              <a:avLst/>
              <a:gdLst/>
              <a:ahLst/>
              <a:cxnLst/>
              <a:rect l="l" t="t" r="r" b="b"/>
              <a:pathLst>
                <a:path w="160020" h="489585">
                  <a:moveTo>
                    <a:pt x="160019" y="489203"/>
                  </a:moveTo>
                  <a:lnTo>
                    <a:pt x="160019" y="0"/>
                  </a:lnTo>
                  <a:lnTo>
                    <a:pt x="0" y="0"/>
                  </a:lnTo>
                  <a:lnTo>
                    <a:pt x="0" y="489203"/>
                  </a:lnTo>
                  <a:lnTo>
                    <a:pt x="160019" y="489203"/>
                  </a:lnTo>
                  <a:close/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31919" y="2104644"/>
              <a:ext cx="94487" cy="33375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331719" y="1499615"/>
              <a:ext cx="906780" cy="544195"/>
            </a:xfrm>
            <a:custGeom>
              <a:avLst/>
              <a:gdLst/>
              <a:ahLst/>
              <a:cxnLst/>
              <a:rect l="l" t="t" r="r" b="b"/>
              <a:pathLst>
                <a:path w="906780" h="544194">
                  <a:moveTo>
                    <a:pt x="362711" y="0"/>
                  </a:moveTo>
                  <a:lnTo>
                    <a:pt x="0" y="0"/>
                  </a:lnTo>
                  <a:lnTo>
                    <a:pt x="0" y="544067"/>
                  </a:lnTo>
                  <a:lnTo>
                    <a:pt x="365759" y="544067"/>
                  </a:lnTo>
                </a:path>
                <a:path w="906780" h="544194">
                  <a:moveTo>
                    <a:pt x="513587" y="0"/>
                  </a:moveTo>
                  <a:lnTo>
                    <a:pt x="906779" y="0"/>
                  </a:lnTo>
                  <a:lnTo>
                    <a:pt x="906779" y="544067"/>
                  </a:lnTo>
                  <a:lnTo>
                    <a:pt x="507491" y="544067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680716" y="2212848"/>
            <a:ext cx="138683" cy="91439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14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3071" y="354431"/>
            <a:ext cx="5884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0" dirty="0">
                <a:solidFill>
                  <a:srgbClr val="002060"/>
                </a:solidFill>
                <a:latin typeface="Calibri Light"/>
                <a:cs typeface="Calibri Light"/>
              </a:rPr>
              <a:t>F</a:t>
            </a:r>
            <a:r>
              <a:rPr sz="3600" spc="-75" dirty="0">
                <a:solidFill>
                  <a:srgbClr val="002060"/>
                </a:solidFill>
                <a:latin typeface="Calibri Light"/>
                <a:cs typeface="Calibri Light"/>
              </a:rPr>
              <a:t>u</a:t>
            </a:r>
            <a:r>
              <a:rPr sz="3600" spc="-65" dirty="0">
                <a:solidFill>
                  <a:srgbClr val="002060"/>
                </a:solidFill>
                <a:latin typeface="Calibri Light"/>
                <a:cs typeface="Calibri Light"/>
              </a:rPr>
              <a:t>l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l</a:t>
            </a:r>
            <a:r>
              <a:rPr sz="3600" spc="-170" dirty="0">
                <a:solidFill>
                  <a:srgbClr val="002060"/>
                </a:solidFill>
                <a:latin typeface="Calibri Light"/>
                <a:cs typeface="Calibri Light"/>
              </a:rPr>
              <a:t> </a:t>
            </a:r>
            <a:r>
              <a:rPr sz="3600" spc="-210" dirty="0">
                <a:solidFill>
                  <a:srgbClr val="002060"/>
                </a:solidFill>
                <a:latin typeface="Calibri Light"/>
                <a:cs typeface="Calibri Light"/>
              </a:rPr>
              <a:t>W</a:t>
            </a:r>
            <a:r>
              <a:rPr sz="3600" spc="-135" dirty="0">
                <a:solidFill>
                  <a:srgbClr val="002060"/>
                </a:solidFill>
                <a:latin typeface="Calibri Light"/>
                <a:cs typeface="Calibri Light"/>
              </a:rPr>
              <a:t>a</a:t>
            </a:r>
            <a:r>
              <a:rPr sz="3600" spc="-120" dirty="0">
                <a:solidFill>
                  <a:srgbClr val="002060"/>
                </a:solidFill>
                <a:latin typeface="Calibri Light"/>
                <a:cs typeface="Calibri Light"/>
              </a:rPr>
              <a:t>v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e</a:t>
            </a:r>
            <a:r>
              <a:rPr sz="3600" spc="-185" dirty="0">
                <a:solidFill>
                  <a:srgbClr val="002060"/>
                </a:solidFill>
                <a:latin typeface="Calibri Light"/>
                <a:cs typeface="Calibri Light"/>
              </a:rPr>
              <a:t> </a:t>
            </a:r>
            <a:r>
              <a:rPr sz="3600" spc="-65" dirty="0">
                <a:solidFill>
                  <a:srgbClr val="002060"/>
                </a:solidFill>
                <a:latin typeface="Calibri Light"/>
                <a:cs typeface="Calibri Light"/>
              </a:rPr>
              <a:t>a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n</a:t>
            </a:r>
            <a:r>
              <a:rPr sz="3600" spc="-165" dirty="0">
                <a:solidFill>
                  <a:srgbClr val="002060"/>
                </a:solidFill>
                <a:latin typeface="Calibri Light"/>
                <a:cs typeface="Calibri Light"/>
              </a:rPr>
              <a:t> </a:t>
            </a:r>
            <a:r>
              <a:rPr sz="3600" spc="-70" dirty="0">
                <a:solidFill>
                  <a:srgbClr val="002060"/>
                </a:solidFill>
                <a:latin typeface="Calibri Light"/>
                <a:cs typeface="Calibri Light"/>
              </a:rPr>
              <a:t>H</a:t>
            </a:r>
            <a:r>
              <a:rPr sz="3600" spc="-75" dirty="0">
                <a:solidFill>
                  <a:srgbClr val="002060"/>
                </a:solidFill>
                <a:latin typeface="Calibri Light"/>
                <a:cs typeface="Calibri Light"/>
              </a:rPr>
              <a:t>a</a:t>
            </a:r>
            <a:r>
              <a:rPr sz="3600" spc="-65" dirty="0">
                <a:solidFill>
                  <a:srgbClr val="002060"/>
                </a:solidFill>
                <a:latin typeface="Calibri Light"/>
                <a:cs typeface="Calibri Light"/>
              </a:rPr>
              <a:t>l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f</a:t>
            </a:r>
            <a:r>
              <a:rPr sz="3600" spc="-165" dirty="0">
                <a:solidFill>
                  <a:srgbClr val="002060"/>
                </a:solidFill>
                <a:latin typeface="Calibri Light"/>
                <a:cs typeface="Calibri Light"/>
              </a:rPr>
              <a:t> </a:t>
            </a:r>
            <a:r>
              <a:rPr sz="3600" spc="-210" dirty="0">
                <a:solidFill>
                  <a:srgbClr val="002060"/>
                </a:solidFill>
                <a:latin typeface="Calibri Light"/>
                <a:cs typeface="Calibri Light"/>
              </a:rPr>
              <a:t>W</a:t>
            </a:r>
            <a:r>
              <a:rPr sz="3600" spc="-135" dirty="0">
                <a:solidFill>
                  <a:srgbClr val="002060"/>
                </a:solidFill>
                <a:latin typeface="Calibri Light"/>
                <a:cs typeface="Calibri Light"/>
              </a:rPr>
              <a:t>a</a:t>
            </a:r>
            <a:r>
              <a:rPr sz="3600" spc="-120" dirty="0">
                <a:solidFill>
                  <a:srgbClr val="002060"/>
                </a:solidFill>
                <a:latin typeface="Calibri Light"/>
                <a:cs typeface="Calibri Light"/>
              </a:rPr>
              <a:t>v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e</a:t>
            </a:r>
            <a:r>
              <a:rPr sz="3600" spc="-185" dirty="0">
                <a:solidFill>
                  <a:srgbClr val="002060"/>
                </a:solidFill>
                <a:latin typeface="Calibri Light"/>
                <a:cs typeface="Calibri Light"/>
              </a:rPr>
              <a:t> </a:t>
            </a:r>
            <a:r>
              <a:rPr sz="3600" spc="-105" dirty="0">
                <a:solidFill>
                  <a:srgbClr val="002060"/>
                </a:solidFill>
                <a:latin typeface="Calibri Light"/>
                <a:cs typeface="Calibri Light"/>
              </a:rPr>
              <a:t>c</a:t>
            </a:r>
            <a:r>
              <a:rPr sz="3600" spc="-70" dirty="0">
                <a:solidFill>
                  <a:srgbClr val="002060"/>
                </a:solidFill>
                <a:latin typeface="Calibri Light"/>
                <a:cs typeface="Calibri Light"/>
              </a:rPr>
              <a:t>o</a:t>
            </a:r>
            <a:r>
              <a:rPr sz="3600" spc="-120" dirty="0">
                <a:solidFill>
                  <a:srgbClr val="002060"/>
                </a:solidFill>
                <a:latin typeface="Calibri Light"/>
                <a:cs typeface="Calibri Light"/>
              </a:rPr>
              <a:t>n</a:t>
            </a:r>
            <a:r>
              <a:rPr sz="3600" spc="-70" dirty="0">
                <a:solidFill>
                  <a:srgbClr val="002060"/>
                </a:solidFill>
                <a:latin typeface="Calibri Light"/>
                <a:cs typeface="Calibri Light"/>
              </a:rPr>
              <a:t>t</a:t>
            </a:r>
            <a:r>
              <a:rPr sz="3600" spc="-150" dirty="0">
                <a:solidFill>
                  <a:srgbClr val="002060"/>
                </a:solidFill>
                <a:latin typeface="Calibri Light"/>
                <a:cs typeface="Calibri Light"/>
              </a:rPr>
              <a:t>r</a:t>
            </a:r>
            <a:r>
              <a:rPr sz="3600" spc="-90" dirty="0">
                <a:solidFill>
                  <a:srgbClr val="002060"/>
                </a:solidFill>
                <a:latin typeface="Calibri Light"/>
                <a:cs typeface="Calibri Light"/>
              </a:rPr>
              <a:t>o</a:t>
            </a:r>
            <a:r>
              <a:rPr sz="3600" spc="-75" dirty="0">
                <a:solidFill>
                  <a:srgbClr val="002060"/>
                </a:solidFill>
                <a:latin typeface="Calibri Light"/>
                <a:cs typeface="Calibri Light"/>
              </a:rPr>
              <a:t>l</a:t>
            </a:r>
            <a:r>
              <a:rPr sz="3600" spc="-65" dirty="0">
                <a:solidFill>
                  <a:srgbClr val="002060"/>
                </a:solidFill>
                <a:latin typeface="Calibri Light"/>
                <a:cs typeface="Calibri Light"/>
              </a:rPr>
              <a:t>l</a:t>
            </a:r>
            <a:r>
              <a:rPr sz="3600" spc="-90" dirty="0">
                <a:solidFill>
                  <a:srgbClr val="002060"/>
                </a:solidFill>
                <a:latin typeface="Calibri Light"/>
                <a:cs typeface="Calibri Light"/>
              </a:rPr>
              <a:t>e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r</a:t>
            </a:r>
            <a:endParaRPr sz="36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07591" y="1277111"/>
            <a:ext cx="2569845" cy="1394460"/>
            <a:chOff x="1307591" y="1277111"/>
            <a:chExt cx="2569845" cy="1394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3368" y="1556004"/>
              <a:ext cx="121919" cy="914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3743" y="1821179"/>
              <a:ext cx="210311" cy="23317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0507" y="1277111"/>
              <a:ext cx="208787" cy="23317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185415" y="1392935"/>
              <a:ext cx="902335" cy="544195"/>
            </a:xfrm>
            <a:custGeom>
              <a:avLst/>
              <a:gdLst/>
              <a:ahLst/>
              <a:cxnLst/>
              <a:rect l="l" t="t" r="r" b="b"/>
              <a:pathLst>
                <a:path w="902335" h="544194">
                  <a:moveTo>
                    <a:pt x="505967" y="0"/>
                  </a:moveTo>
                  <a:lnTo>
                    <a:pt x="902207" y="0"/>
                  </a:lnTo>
                  <a:lnTo>
                    <a:pt x="902207" y="544067"/>
                  </a:lnTo>
                  <a:lnTo>
                    <a:pt x="541019" y="544067"/>
                  </a:lnTo>
                </a:path>
                <a:path w="902335" h="544194">
                  <a:moveTo>
                    <a:pt x="359663" y="0"/>
                  </a:moveTo>
                  <a:lnTo>
                    <a:pt x="0" y="0"/>
                  </a:lnTo>
                  <a:lnTo>
                    <a:pt x="0" y="544067"/>
                  </a:lnTo>
                  <a:lnTo>
                    <a:pt x="396239" y="544067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36547" y="2098584"/>
              <a:ext cx="249935" cy="15689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15211" y="1665731"/>
              <a:ext cx="870585" cy="660400"/>
            </a:xfrm>
            <a:custGeom>
              <a:avLst/>
              <a:gdLst/>
              <a:ahLst/>
              <a:cxnLst/>
              <a:rect l="l" t="t" r="r" b="b"/>
              <a:pathLst>
                <a:path w="870585" h="660400">
                  <a:moveTo>
                    <a:pt x="295655" y="512063"/>
                  </a:moveTo>
                  <a:lnTo>
                    <a:pt x="288182" y="464929"/>
                  </a:lnTo>
                  <a:lnTo>
                    <a:pt x="267321" y="423940"/>
                  </a:lnTo>
                  <a:lnTo>
                    <a:pt x="235415" y="391582"/>
                  </a:lnTo>
                  <a:lnTo>
                    <a:pt x="194803" y="370344"/>
                  </a:lnTo>
                  <a:lnTo>
                    <a:pt x="147827" y="362711"/>
                  </a:lnTo>
                  <a:lnTo>
                    <a:pt x="100852" y="370344"/>
                  </a:lnTo>
                  <a:lnTo>
                    <a:pt x="60240" y="391582"/>
                  </a:lnTo>
                  <a:lnTo>
                    <a:pt x="28334" y="423940"/>
                  </a:lnTo>
                  <a:lnTo>
                    <a:pt x="7473" y="464929"/>
                  </a:lnTo>
                  <a:lnTo>
                    <a:pt x="0" y="512063"/>
                  </a:lnTo>
                  <a:lnTo>
                    <a:pt x="7473" y="559039"/>
                  </a:lnTo>
                  <a:lnTo>
                    <a:pt x="28334" y="599651"/>
                  </a:lnTo>
                  <a:lnTo>
                    <a:pt x="60240" y="631557"/>
                  </a:lnTo>
                  <a:lnTo>
                    <a:pt x="100852" y="652418"/>
                  </a:lnTo>
                  <a:lnTo>
                    <a:pt x="147827" y="659891"/>
                  </a:lnTo>
                  <a:lnTo>
                    <a:pt x="194803" y="652418"/>
                  </a:lnTo>
                  <a:lnTo>
                    <a:pt x="235415" y="631557"/>
                  </a:lnTo>
                  <a:lnTo>
                    <a:pt x="267321" y="599651"/>
                  </a:lnTo>
                  <a:lnTo>
                    <a:pt x="288182" y="559039"/>
                  </a:lnTo>
                  <a:lnTo>
                    <a:pt x="295655" y="512063"/>
                  </a:lnTo>
                </a:path>
                <a:path w="870585" h="660400">
                  <a:moveTo>
                    <a:pt x="147827" y="362711"/>
                  </a:moveTo>
                  <a:lnTo>
                    <a:pt x="147827" y="0"/>
                  </a:lnTo>
                </a:path>
                <a:path w="870585" h="660400">
                  <a:moveTo>
                    <a:pt x="147827" y="0"/>
                  </a:moveTo>
                  <a:lnTo>
                    <a:pt x="870203" y="0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47515" y="1984247"/>
              <a:ext cx="129539" cy="30632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463039" y="1665731"/>
              <a:ext cx="2356485" cy="998219"/>
            </a:xfrm>
            <a:custGeom>
              <a:avLst/>
              <a:gdLst/>
              <a:ahLst/>
              <a:cxnLst/>
              <a:rect l="l" t="t" r="r" b="b"/>
              <a:pathLst>
                <a:path w="2356485" h="998219">
                  <a:moveTo>
                    <a:pt x="2356103" y="326135"/>
                  </a:moveTo>
                  <a:lnTo>
                    <a:pt x="2356103" y="0"/>
                  </a:lnTo>
                  <a:lnTo>
                    <a:pt x="1624583" y="0"/>
                  </a:lnTo>
                </a:path>
                <a:path w="2356485" h="998219">
                  <a:moveTo>
                    <a:pt x="2356103" y="617219"/>
                  </a:moveTo>
                  <a:lnTo>
                    <a:pt x="2356103" y="998219"/>
                  </a:lnTo>
                  <a:lnTo>
                    <a:pt x="0" y="998219"/>
                  </a:lnTo>
                  <a:lnTo>
                    <a:pt x="0" y="670559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74876" y="2106167"/>
              <a:ext cx="132587" cy="15697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05200" y="2058923"/>
              <a:ext cx="91439" cy="1036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84447" y="2141219"/>
              <a:ext cx="67055" cy="73151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563367" y="2106167"/>
            <a:ext cx="138683" cy="9143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945635" y="2086355"/>
            <a:ext cx="94487" cy="11125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53654" y="2955035"/>
            <a:ext cx="2300901" cy="2220468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1561814" y="5945221"/>
            <a:ext cx="312420" cy="277495"/>
            <a:chOff x="1561814" y="5945221"/>
            <a:chExt cx="312420" cy="277495"/>
          </a:xfrm>
        </p:grpSpPr>
        <p:sp>
          <p:nvSpPr>
            <p:cNvPr id="19" name="object 19"/>
            <p:cNvSpPr/>
            <p:nvPr/>
          </p:nvSpPr>
          <p:spPr>
            <a:xfrm>
              <a:off x="1582673" y="5983891"/>
              <a:ext cx="139700" cy="238760"/>
            </a:xfrm>
            <a:custGeom>
              <a:avLst/>
              <a:gdLst/>
              <a:ahLst/>
              <a:cxnLst/>
              <a:rect l="l" t="t" r="r" b="b"/>
              <a:pathLst>
                <a:path w="139700" h="238760">
                  <a:moveTo>
                    <a:pt x="0" y="161162"/>
                  </a:moveTo>
                  <a:lnTo>
                    <a:pt x="23240" y="148112"/>
                  </a:lnTo>
                </a:path>
                <a:path w="139700" h="238760">
                  <a:moveTo>
                    <a:pt x="23240" y="148112"/>
                  </a:moveTo>
                  <a:lnTo>
                    <a:pt x="78582" y="238505"/>
                  </a:lnTo>
                </a:path>
                <a:path w="139700" h="238760">
                  <a:moveTo>
                    <a:pt x="78582" y="238505"/>
                  </a:moveTo>
                  <a:lnTo>
                    <a:pt x="1392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80870" y="5978550"/>
              <a:ext cx="274320" cy="243840"/>
            </a:xfrm>
            <a:custGeom>
              <a:avLst/>
              <a:gdLst/>
              <a:ahLst/>
              <a:cxnLst/>
              <a:rect l="l" t="t" r="r" b="b"/>
              <a:pathLst>
                <a:path w="274319" h="243839">
                  <a:moveTo>
                    <a:pt x="273837" y="0"/>
                  </a:moveTo>
                  <a:lnTo>
                    <a:pt x="136956" y="0"/>
                  </a:lnTo>
                  <a:lnTo>
                    <a:pt x="80949" y="220027"/>
                  </a:lnTo>
                  <a:lnTo>
                    <a:pt x="31521" y="146303"/>
                  </a:lnTo>
                  <a:lnTo>
                    <a:pt x="0" y="163550"/>
                  </a:lnTo>
                  <a:lnTo>
                    <a:pt x="3619" y="170116"/>
                  </a:lnTo>
                  <a:lnTo>
                    <a:pt x="19050" y="160591"/>
                  </a:lnTo>
                  <a:lnTo>
                    <a:pt x="75044" y="243839"/>
                  </a:lnTo>
                  <a:lnTo>
                    <a:pt x="86296" y="243839"/>
                  </a:lnTo>
                  <a:lnTo>
                    <a:pt x="145249" y="11341"/>
                  </a:lnTo>
                  <a:lnTo>
                    <a:pt x="273837" y="11341"/>
                  </a:lnTo>
                  <a:lnTo>
                    <a:pt x="2738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1814" y="5949982"/>
              <a:ext cx="312420" cy="0"/>
            </a:xfrm>
            <a:custGeom>
              <a:avLst/>
              <a:gdLst/>
              <a:ahLst/>
              <a:cxnLst/>
              <a:rect l="l" t="t" r="r" b="b"/>
              <a:pathLst>
                <a:path w="312419">
                  <a:moveTo>
                    <a:pt x="0" y="0"/>
                  </a:moveTo>
                  <a:lnTo>
                    <a:pt x="311942" y="0"/>
                  </a:lnTo>
                </a:path>
              </a:pathLst>
            </a:custGeom>
            <a:ln w="95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318852" y="5709968"/>
            <a:ext cx="707390" cy="387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19125" algn="l"/>
              </a:tabLst>
            </a:pPr>
            <a:r>
              <a:rPr sz="2350" spc="-195" dirty="0">
                <a:latin typeface="Symbol"/>
                <a:cs typeface="Symbol"/>
              </a:rPr>
              <a:t></a:t>
            </a:r>
            <a:r>
              <a:rPr sz="2350" spc="-195" dirty="0">
                <a:latin typeface="Times New Roman"/>
                <a:cs typeface="Times New Roman"/>
              </a:rPr>
              <a:t>	</a:t>
            </a:r>
            <a:r>
              <a:rPr sz="2350" spc="-195" dirty="0">
                <a:latin typeface="Symbol"/>
                <a:cs typeface="Symbol"/>
              </a:rPr>
              <a:t>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050220" y="5672899"/>
            <a:ext cx="80010" cy="0"/>
          </a:xfrm>
          <a:custGeom>
            <a:avLst/>
            <a:gdLst/>
            <a:ahLst/>
            <a:cxnLst/>
            <a:rect l="l" t="t" r="r" b="b"/>
            <a:pathLst>
              <a:path w="80010">
                <a:moveTo>
                  <a:pt x="0" y="0"/>
                </a:moveTo>
                <a:lnTo>
                  <a:pt x="79819" y="0"/>
                </a:lnTo>
              </a:path>
            </a:pathLst>
          </a:custGeom>
          <a:ln w="47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044262" y="5451521"/>
            <a:ext cx="95250" cy="39751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050" spc="-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204"/>
              </a:spcBef>
            </a:pPr>
            <a:r>
              <a:rPr sz="1050" spc="-5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02652" y="5919666"/>
            <a:ext cx="51371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i="1" spc="75" dirty="0">
                <a:latin typeface="Times New Roman"/>
                <a:cs typeface="Times New Roman"/>
              </a:rPr>
              <a:t>O</a:t>
            </a:r>
            <a:r>
              <a:rPr sz="1050" spc="-5" dirty="0">
                <a:latin typeface="Times New Roman"/>
                <a:cs typeface="Times New Roman"/>
              </a:rPr>
              <a:t>(</a:t>
            </a:r>
            <a:r>
              <a:rPr sz="1050" spc="-145" dirty="0">
                <a:latin typeface="Times New Roman"/>
                <a:cs typeface="Times New Roman"/>
              </a:rPr>
              <a:t> </a:t>
            </a:r>
            <a:r>
              <a:rPr sz="1050" i="1" spc="-5" dirty="0">
                <a:latin typeface="Times New Roman"/>
                <a:cs typeface="Times New Roman"/>
              </a:rPr>
              <a:t>R</a:t>
            </a:r>
            <a:r>
              <a:rPr sz="1050" i="1" spc="-20" dirty="0">
                <a:latin typeface="Times New Roman"/>
                <a:cs typeface="Times New Roman"/>
              </a:rPr>
              <a:t>M</a:t>
            </a:r>
            <a:r>
              <a:rPr sz="1050" i="1" spc="-5" dirty="0">
                <a:latin typeface="Times New Roman"/>
                <a:cs typeface="Times New Roman"/>
              </a:rPr>
              <a:t>S</a:t>
            </a:r>
            <a:r>
              <a:rPr sz="1050" i="1" spc="-105" dirty="0">
                <a:latin typeface="Times New Roman"/>
                <a:cs typeface="Times New Roman"/>
              </a:rPr>
              <a:t> </a:t>
            </a:r>
            <a:r>
              <a:rPr sz="1050" spc="-5" dirty="0"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16745" y="5560016"/>
            <a:ext cx="831215" cy="6845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  <a:tabLst>
                <a:tab pos="730250" algn="l"/>
              </a:tabLst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1800" u="sng" spc="-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1900" u="sng" spc="-7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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Symbol"/>
                <a:cs typeface="Symbol"/>
              </a:rPr>
              <a:t></a:t>
            </a:r>
            <a:endParaRPr sz="1800">
              <a:latin typeface="Symbol"/>
              <a:cs typeface="Symbol"/>
            </a:endParaRPr>
          </a:p>
          <a:p>
            <a:pPr marL="247015">
              <a:lnSpc>
                <a:spcPct val="100000"/>
              </a:lnSpc>
              <a:spcBef>
                <a:spcPts val="360"/>
              </a:spcBef>
            </a:pPr>
            <a:r>
              <a:rPr sz="1800" spc="-5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07769" y="5638518"/>
            <a:ext cx="11303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" dirty="0">
                <a:latin typeface="Symbol"/>
                <a:cs typeface="Symbol"/>
              </a:rPr>
              <a:t>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99849" y="5753721"/>
            <a:ext cx="7880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9605" algn="l"/>
              </a:tabLst>
            </a:pPr>
            <a:r>
              <a:rPr sz="1900" spc="-60" dirty="0">
                <a:latin typeface="Symbol"/>
                <a:cs typeface="Symbol"/>
              </a:rPr>
              <a:t></a:t>
            </a:r>
            <a:r>
              <a:rPr sz="1900" spc="8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Symbol"/>
                <a:cs typeface="Symbol"/>
              </a:rPr>
              <a:t></a:t>
            </a:r>
            <a:r>
              <a:rPr sz="1800" spc="-285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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Symbol"/>
                <a:cs typeface="Symbol"/>
              </a:rPr>
              <a:t>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94677" y="5825205"/>
            <a:ext cx="65151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-29320" dirty="0">
                <a:latin typeface="Times New Roman"/>
                <a:cs typeface="Times New Roman"/>
              </a:rPr>
              <a:t>2</a:t>
            </a:r>
            <a:r>
              <a:rPr sz="2700" spc="104" baseline="-2932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Symbol"/>
                <a:cs typeface="Symbol"/>
              </a:rPr>
              <a:t></a:t>
            </a:r>
            <a:r>
              <a:rPr sz="2850" spc="30" baseline="-24853" dirty="0">
                <a:latin typeface="Symbol"/>
                <a:cs typeface="Symbol"/>
              </a:rPr>
              <a:t></a:t>
            </a:r>
            <a:r>
              <a:rPr sz="2850" spc="135" baseline="-24853" dirty="0">
                <a:latin typeface="Times New Roman"/>
                <a:cs typeface="Times New Roman"/>
              </a:rPr>
              <a:t> </a:t>
            </a:r>
            <a:r>
              <a:rPr sz="2700" spc="-7" baseline="1543" dirty="0">
                <a:latin typeface="Symbol"/>
                <a:cs typeface="Symbol"/>
              </a:rPr>
              <a:t></a:t>
            </a:r>
            <a:endParaRPr sz="2700" baseline="1543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36920" y="5638518"/>
            <a:ext cx="11303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" dirty="0">
                <a:latin typeface="Symbol"/>
                <a:cs typeface="Symbol"/>
              </a:rPr>
              <a:t>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36920" y="5838126"/>
            <a:ext cx="21082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112" baseline="1543" dirty="0">
                <a:latin typeface="Symbol"/>
                <a:cs typeface="Symbol"/>
              </a:rPr>
              <a:t></a:t>
            </a:r>
            <a:r>
              <a:rPr sz="1800" spc="-5" dirty="0">
                <a:latin typeface="Symbol"/>
                <a:cs typeface="Symbol"/>
              </a:rPr>
              <a:t>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07769" y="5972187"/>
            <a:ext cx="11303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" dirty="0">
                <a:latin typeface="Symbol"/>
                <a:cs typeface="Symbol"/>
              </a:rPr>
              <a:t>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836920" y="5972187"/>
            <a:ext cx="21082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75" dirty="0">
                <a:latin typeface="Symbol"/>
                <a:cs typeface="Symbol"/>
              </a:rPr>
              <a:t></a:t>
            </a:r>
            <a:r>
              <a:rPr sz="2700" spc="-7" baseline="-4629" dirty="0">
                <a:latin typeface="Symbol"/>
                <a:cs typeface="Symbol"/>
              </a:rPr>
              <a:t></a:t>
            </a:r>
            <a:endParaRPr sz="2700" baseline="-4629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04584" y="5990458"/>
            <a:ext cx="11303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" dirty="0">
                <a:latin typeface="Symbol"/>
                <a:cs typeface="Symbol"/>
              </a:rPr>
              <a:t>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41151" y="5621846"/>
            <a:ext cx="85661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700" spc="-7" baseline="-35493" dirty="0">
                <a:latin typeface="Symbol"/>
                <a:cs typeface="Symbol"/>
              </a:rPr>
              <a:t></a:t>
            </a:r>
            <a:r>
              <a:rPr sz="2700" spc="254" baseline="-35493" dirty="0">
                <a:latin typeface="Times New Roman"/>
                <a:cs typeface="Times New Roman"/>
              </a:rPr>
              <a:t> </a:t>
            </a:r>
            <a:r>
              <a:rPr sz="1800" i="1" spc="-70" dirty="0">
                <a:latin typeface="Times New Roman"/>
                <a:cs typeface="Times New Roman"/>
              </a:rPr>
              <a:t>V</a:t>
            </a:r>
            <a:r>
              <a:rPr sz="1575" i="1" u="sng" spc="-7" baseline="-2380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sz="1575" i="1" baseline="-23809" dirty="0">
                <a:latin typeface="Times New Roman"/>
                <a:cs typeface="Times New Roman"/>
              </a:rPr>
              <a:t>  </a:t>
            </a:r>
            <a:r>
              <a:rPr sz="1575" i="1" spc="75" baseline="-23809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Symbol"/>
                <a:cs typeface="Symbol"/>
              </a:rPr>
              <a:t></a:t>
            </a:r>
            <a:r>
              <a:rPr sz="1800" spc="-135" dirty="0">
                <a:latin typeface="Times New Roman"/>
                <a:cs typeface="Times New Roman"/>
              </a:rPr>
              <a:t> 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4533" y="5766641"/>
            <a:ext cx="1651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i="1" spc="-5" dirty="0"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94334" y="2854451"/>
            <a:ext cx="2261605" cy="2162402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5484876" y="1231391"/>
            <a:ext cx="2569845" cy="1385570"/>
            <a:chOff x="5484876" y="1231391"/>
            <a:chExt cx="2569845" cy="1385570"/>
          </a:xfrm>
        </p:grpSpPr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77228" y="1508760"/>
              <a:ext cx="73151" cy="9143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51320" y="1772411"/>
              <a:ext cx="160019" cy="23164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717791" y="1231391"/>
              <a:ext cx="208787" cy="23164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362700" y="1347215"/>
              <a:ext cx="902335" cy="541020"/>
            </a:xfrm>
            <a:custGeom>
              <a:avLst/>
              <a:gdLst/>
              <a:ahLst/>
              <a:cxnLst/>
              <a:rect l="l" t="t" r="r" b="b"/>
              <a:pathLst>
                <a:path w="902334" h="541019">
                  <a:moveTo>
                    <a:pt x="505967" y="0"/>
                  </a:moveTo>
                  <a:lnTo>
                    <a:pt x="902207" y="0"/>
                  </a:lnTo>
                  <a:lnTo>
                    <a:pt x="902207" y="541019"/>
                  </a:lnTo>
                  <a:lnTo>
                    <a:pt x="541019" y="541019"/>
                  </a:lnTo>
                </a:path>
                <a:path w="902334" h="541019">
                  <a:moveTo>
                    <a:pt x="359663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396239" y="541019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513832" y="2048719"/>
              <a:ext cx="249935" cy="15525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492496" y="1618487"/>
              <a:ext cx="870585" cy="655320"/>
            </a:xfrm>
            <a:custGeom>
              <a:avLst/>
              <a:gdLst/>
              <a:ahLst/>
              <a:cxnLst/>
              <a:rect l="l" t="t" r="r" b="b"/>
              <a:pathLst>
                <a:path w="870585" h="655319">
                  <a:moveTo>
                    <a:pt x="295655" y="507491"/>
                  </a:moveTo>
                  <a:lnTo>
                    <a:pt x="288182" y="460516"/>
                  </a:lnTo>
                  <a:lnTo>
                    <a:pt x="267321" y="419904"/>
                  </a:lnTo>
                  <a:lnTo>
                    <a:pt x="235415" y="387998"/>
                  </a:lnTo>
                  <a:lnTo>
                    <a:pt x="194803" y="367137"/>
                  </a:lnTo>
                  <a:lnTo>
                    <a:pt x="147827" y="359663"/>
                  </a:lnTo>
                  <a:lnTo>
                    <a:pt x="100852" y="367137"/>
                  </a:lnTo>
                  <a:lnTo>
                    <a:pt x="60240" y="387998"/>
                  </a:lnTo>
                  <a:lnTo>
                    <a:pt x="28334" y="419904"/>
                  </a:lnTo>
                  <a:lnTo>
                    <a:pt x="7473" y="460516"/>
                  </a:lnTo>
                  <a:lnTo>
                    <a:pt x="0" y="507491"/>
                  </a:lnTo>
                  <a:lnTo>
                    <a:pt x="7473" y="554467"/>
                  </a:lnTo>
                  <a:lnTo>
                    <a:pt x="28334" y="595079"/>
                  </a:lnTo>
                  <a:lnTo>
                    <a:pt x="60240" y="626985"/>
                  </a:lnTo>
                  <a:lnTo>
                    <a:pt x="100852" y="647846"/>
                  </a:lnTo>
                  <a:lnTo>
                    <a:pt x="147827" y="655319"/>
                  </a:lnTo>
                  <a:lnTo>
                    <a:pt x="194803" y="647846"/>
                  </a:lnTo>
                  <a:lnTo>
                    <a:pt x="235415" y="626985"/>
                  </a:lnTo>
                  <a:lnTo>
                    <a:pt x="267321" y="595079"/>
                  </a:lnTo>
                  <a:lnTo>
                    <a:pt x="288182" y="554467"/>
                  </a:lnTo>
                  <a:lnTo>
                    <a:pt x="295655" y="507491"/>
                  </a:lnTo>
                </a:path>
                <a:path w="870585" h="655319">
                  <a:moveTo>
                    <a:pt x="147827" y="359663"/>
                  </a:moveTo>
                  <a:lnTo>
                    <a:pt x="147827" y="0"/>
                  </a:lnTo>
                </a:path>
                <a:path w="870585" h="655319">
                  <a:moveTo>
                    <a:pt x="147827" y="0"/>
                  </a:moveTo>
                  <a:lnTo>
                    <a:pt x="870203" y="0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24800" y="1933955"/>
              <a:ext cx="129539" cy="30479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640324" y="1618487"/>
              <a:ext cx="2357755" cy="990600"/>
            </a:xfrm>
            <a:custGeom>
              <a:avLst/>
              <a:gdLst/>
              <a:ahLst/>
              <a:cxnLst/>
              <a:rect l="l" t="t" r="r" b="b"/>
              <a:pathLst>
                <a:path w="2357754" h="990600">
                  <a:moveTo>
                    <a:pt x="2357627" y="323087"/>
                  </a:moveTo>
                  <a:lnTo>
                    <a:pt x="2357627" y="0"/>
                  </a:lnTo>
                  <a:lnTo>
                    <a:pt x="1624583" y="0"/>
                  </a:lnTo>
                </a:path>
                <a:path w="2357754" h="990600">
                  <a:moveTo>
                    <a:pt x="2356103" y="612647"/>
                  </a:moveTo>
                  <a:lnTo>
                    <a:pt x="2356103" y="990599"/>
                  </a:lnTo>
                  <a:lnTo>
                    <a:pt x="0" y="990599"/>
                  </a:lnTo>
                  <a:lnTo>
                    <a:pt x="0" y="665987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852160" y="2055876"/>
              <a:ext cx="132587" cy="15544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82484" y="2007108"/>
              <a:ext cx="91440" cy="10363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61732" y="2090927"/>
              <a:ext cx="67055" cy="73151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777228" y="2055876"/>
            <a:ext cx="76200" cy="9143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122919" y="2036064"/>
            <a:ext cx="92964" cy="109727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5737574" y="5949218"/>
            <a:ext cx="312420" cy="278130"/>
            <a:chOff x="5737574" y="5949218"/>
            <a:chExt cx="312420" cy="278130"/>
          </a:xfrm>
        </p:grpSpPr>
        <p:sp>
          <p:nvSpPr>
            <p:cNvPr id="53" name="object 53"/>
            <p:cNvSpPr/>
            <p:nvPr/>
          </p:nvSpPr>
          <p:spPr>
            <a:xfrm>
              <a:off x="5758433" y="5987892"/>
              <a:ext cx="139700" cy="239395"/>
            </a:xfrm>
            <a:custGeom>
              <a:avLst/>
              <a:gdLst/>
              <a:ahLst/>
              <a:cxnLst/>
              <a:rect l="l" t="t" r="r" b="b"/>
              <a:pathLst>
                <a:path w="139700" h="239395">
                  <a:moveTo>
                    <a:pt x="0" y="161543"/>
                  </a:moveTo>
                  <a:lnTo>
                    <a:pt x="23240" y="148399"/>
                  </a:lnTo>
                </a:path>
                <a:path w="139700" h="239395">
                  <a:moveTo>
                    <a:pt x="23240" y="148399"/>
                  </a:moveTo>
                  <a:lnTo>
                    <a:pt x="78582" y="238981"/>
                  </a:lnTo>
                </a:path>
                <a:path w="139700" h="239395">
                  <a:moveTo>
                    <a:pt x="78582" y="238981"/>
                  </a:moveTo>
                  <a:lnTo>
                    <a:pt x="1392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756617" y="5982551"/>
              <a:ext cx="274320" cy="244475"/>
            </a:xfrm>
            <a:custGeom>
              <a:avLst/>
              <a:gdLst/>
              <a:ahLst/>
              <a:cxnLst/>
              <a:rect l="l" t="t" r="r" b="b"/>
              <a:pathLst>
                <a:path w="274320" h="244475">
                  <a:moveTo>
                    <a:pt x="273850" y="0"/>
                  </a:moveTo>
                  <a:lnTo>
                    <a:pt x="136982" y="0"/>
                  </a:lnTo>
                  <a:lnTo>
                    <a:pt x="80962" y="220510"/>
                  </a:lnTo>
                  <a:lnTo>
                    <a:pt x="31534" y="146596"/>
                  </a:lnTo>
                  <a:lnTo>
                    <a:pt x="0" y="163829"/>
                  </a:lnTo>
                  <a:lnTo>
                    <a:pt x="3632" y="170408"/>
                  </a:lnTo>
                  <a:lnTo>
                    <a:pt x="19050" y="160883"/>
                  </a:lnTo>
                  <a:lnTo>
                    <a:pt x="75069" y="244322"/>
                  </a:lnTo>
                  <a:lnTo>
                    <a:pt x="86296" y="244322"/>
                  </a:lnTo>
                  <a:lnTo>
                    <a:pt x="145262" y="11341"/>
                  </a:lnTo>
                  <a:lnTo>
                    <a:pt x="273850" y="11341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737574" y="5953983"/>
              <a:ext cx="312420" cy="0"/>
            </a:xfrm>
            <a:custGeom>
              <a:avLst/>
              <a:gdLst/>
              <a:ahLst/>
              <a:cxnLst/>
              <a:rect l="l" t="t" r="r" b="b"/>
              <a:pathLst>
                <a:path w="312420">
                  <a:moveTo>
                    <a:pt x="0" y="0"/>
                  </a:moveTo>
                  <a:lnTo>
                    <a:pt x="311942" y="0"/>
                  </a:lnTo>
                </a:path>
              </a:pathLst>
            </a:custGeom>
            <a:ln w="95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6613555" y="5712698"/>
            <a:ext cx="82423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35965" algn="l"/>
              </a:tabLst>
            </a:pPr>
            <a:r>
              <a:rPr sz="2350" spc="-195" dirty="0">
                <a:latin typeface="Symbol"/>
                <a:cs typeface="Symbol"/>
              </a:rPr>
              <a:t></a:t>
            </a:r>
            <a:r>
              <a:rPr sz="2350" spc="-195" dirty="0">
                <a:latin typeface="Times New Roman"/>
                <a:cs typeface="Times New Roman"/>
              </a:rPr>
              <a:t>	</a:t>
            </a:r>
            <a:r>
              <a:rPr sz="2350" spc="-195" dirty="0">
                <a:latin typeface="Symbol"/>
                <a:cs typeface="Symbol"/>
              </a:rPr>
              <a:t>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8461724" y="5676233"/>
            <a:ext cx="80010" cy="0"/>
          </a:xfrm>
          <a:custGeom>
            <a:avLst/>
            <a:gdLst/>
            <a:ahLst/>
            <a:cxnLst/>
            <a:rect l="l" t="t" r="r" b="b"/>
            <a:pathLst>
              <a:path w="80009">
                <a:moveTo>
                  <a:pt x="0" y="0"/>
                </a:moveTo>
                <a:lnTo>
                  <a:pt x="79819" y="0"/>
                </a:lnTo>
              </a:path>
            </a:pathLst>
          </a:custGeom>
          <a:ln w="47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8456083" y="5453001"/>
            <a:ext cx="93980" cy="40068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spc="-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215"/>
              </a:spcBef>
            </a:pPr>
            <a:r>
              <a:rPr sz="1050" spc="-5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14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59" name="object 59"/>
          <p:cNvSpPr txBox="1"/>
          <p:nvPr/>
        </p:nvSpPr>
        <p:spPr>
          <a:xfrm>
            <a:off x="4978287" y="5923908"/>
            <a:ext cx="51371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75" dirty="0">
                <a:latin typeface="Times New Roman"/>
                <a:cs typeface="Times New Roman"/>
              </a:rPr>
              <a:t>O</a:t>
            </a:r>
            <a:r>
              <a:rPr sz="1050" spc="-5" dirty="0">
                <a:latin typeface="Times New Roman"/>
                <a:cs typeface="Times New Roman"/>
              </a:rPr>
              <a:t>(</a:t>
            </a:r>
            <a:r>
              <a:rPr sz="1050" spc="-145" dirty="0">
                <a:latin typeface="Times New Roman"/>
                <a:cs typeface="Times New Roman"/>
              </a:rPr>
              <a:t> </a:t>
            </a:r>
            <a:r>
              <a:rPr sz="1050" i="1" spc="-5" dirty="0">
                <a:latin typeface="Times New Roman"/>
                <a:cs typeface="Times New Roman"/>
              </a:rPr>
              <a:t>R</a:t>
            </a:r>
            <a:r>
              <a:rPr sz="1050" i="1" spc="-20" dirty="0">
                <a:latin typeface="Times New Roman"/>
                <a:cs typeface="Times New Roman"/>
              </a:rPr>
              <a:t>M</a:t>
            </a:r>
            <a:r>
              <a:rPr sz="1050" i="1" spc="-5" dirty="0">
                <a:latin typeface="Times New Roman"/>
                <a:cs typeface="Times New Roman"/>
              </a:rPr>
              <a:t>S</a:t>
            </a:r>
            <a:r>
              <a:rPr sz="1050" i="1" spc="-105" dirty="0">
                <a:latin typeface="Times New Roman"/>
                <a:cs typeface="Times New Roman"/>
              </a:rPr>
              <a:t> </a:t>
            </a:r>
            <a:r>
              <a:rPr sz="1050" spc="-5" dirty="0"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516669" y="5625939"/>
            <a:ext cx="9163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-35493" dirty="0">
                <a:latin typeface="Symbol"/>
                <a:cs typeface="Symbol"/>
              </a:rPr>
              <a:t></a:t>
            </a:r>
            <a:r>
              <a:rPr sz="2700" spc="217" baseline="-35493" dirty="0">
                <a:latin typeface="Times New Roman"/>
                <a:cs typeface="Times New Roman"/>
              </a:rPr>
              <a:t> </a:t>
            </a:r>
            <a:r>
              <a:rPr sz="2700" i="1" spc="-52" baseline="1543" dirty="0">
                <a:latin typeface="Times New Roman"/>
                <a:cs typeface="Times New Roman"/>
              </a:rPr>
              <a:t>V</a:t>
            </a:r>
            <a:r>
              <a:rPr sz="1575" i="1" u="sng" spc="-52" baseline="-2380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sz="1575" i="1" spc="817" baseline="-23809" dirty="0">
                <a:latin typeface="Times New Roman"/>
                <a:cs typeface="Times New Roman"/>
              </a:rPr>
              <a:t> </a:t>
            </a:r>
            <a:r>
              <a:rPr sz="2700" spc="142" baseline="1543" dirty="0">
                <a:latin typeface="Symbol"/>
                <a:cs typeface="Symbol"/>
              </a:rPr>
              <a:t></a:t>
            </a:r>
            <a:r>
              <a:rPr sz="1800" u="sng" spc="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626910" y="5564475"/>
            <a:ext cx="831215" cy="6845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  <a:tabLst>
                <a:tab pos="730250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1800" u="sng" spc="-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1900" u="sng" spc="-6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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2700" spc="-7" baseline="1543" dirty="0">
                <a:latin typeface="Symbol"/>
                <a:cs typeface="Symbol"/>
              </a:rPr>
              <a:t></a:t>
            </a:r>
            <a:endParaRPr sz="2700" baseline="1543">
              <a:latin typeface="Symbol"/>
              <a:cs typeface="Symbol"/>
            </a:endParaRPr>
          </a:p>
          <a:p>
            <a:pPr marL="248285">
              <a:lnSpc>
                <a:spcPct val="100000"/>
              </a:lnSpc>
              <a:spcBef>
                <a:spcPts val="365"/>
              </a:spcBef>
            </a:pPr>
            <a:r>
              <a:rPr sz="1800" spc="-5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500764" y="5642643"/>
            <a:ext cx="1130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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706378" y="5756231"/>
            <a:ext cx="89154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3110" algn="l"/>
              </a:tabLst>
            </a:pPr>
            <a:r>
              <a:rPr sz="1800" spc="-90" dirty="0">
                <a:latin typeface="Times New Roman"/>
                <a:cs typeface="Times New Roman"/>
              </a:rPr>
              <a:t>2</a:t>
            </a:r>
            <a:r>
              <a:rPr sz="1900" spc="-60" dirty="0">
                <a:latin typeface="Symbol"/>
                <a:cs typeface="Symbol"/>
              </a:rPr>
              <a:t></a:t>
            </a:r>
            <a:r>
              <a:rPr sz="1900" spc="8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Symbol"/>
                <a:cs typeface="Symbol"/>
              </a:rPr>
              <a:t></a:t>
            </a:r>
            <a:r>
              <a:rPr sz="1800" spc="-285" dirty="0">
                <a:latin typeface="Times New Roman"/>
                <a:cs typeface="Times New Roman"/>
              </a:rPr>
              <a:t> </a:t>
            </a:r>
            <a:r>
              <a:rPr sz="1900" spc="-65" dirty="0">
                <a:latin typeface="Symbol"/>
                <a:cs typeface="Symbol"/>
              </a:rPr>
              <a:t>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Symbol"/>
                <a:cs typeface="Symbol"/>
              </a:rPr>
              <a:t>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870389" y="5936081"/>
            <a:ext cx="76898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-4629" dirty="0">
                <a:latin typeface="Times New Roman"/>
                <a:cs typeface="Times New Roman"/>
              </a:rPr>
              <a:t>2</a:t>
            </a:r>
            <a:r>
              <a:rPr sz="2700" spc="150" baseline="-4629" dirty="0">
                <a:latin typeface="Times New Roman"/>
                <a:cs typeface="Times New Roman"/>
              </a:rPr>
              <a:t> </a:t>
            </a:r>
            <a:r>
              <a:rPr sz="2700" spc="-7" baseline="26234" dirty="0">
                <a:latin typeface="Symbol"/>
                <a:cs typeface="Symbol"/>
              </a:rPr>
              <a:t></a:t>
            </a:r>
            <a:r>
              <a:rPr sz="2700" spc="-345" baseline="26234" dirty="0">
                <a:latin typeface="Times New Roman"/>
                <a:cs typeface="Times New Roman"/>
              </a:rPr>
              <a:t> </a:t>
            </a:r>
            <a:r>
              <a:rPr sz="1800" spc="-90" dirty="0">
                <a:latin typeface="Times New Roman"/>
                <a:cs typeface="Times New Roman"/>
              </a:rPr>
              <a:t>2</a:t>
            </a:r>
            <a:r>
              <a:rPr sz="1900" spc="-60" dirty="0">
                <a:latin typeface="Symbol"/>
                <a:cs typeface="Symbol"/>
              </a:rPr>
              <a:t></a:t>
            </a:r>
            <a:r>
              <a:rPr sz="1900" spc="120" dirty="0">
                <a:latin typeface="Times New Roman"/>
                <a:cs typeface="Times New Roman"/>
              </a:rPr>
              <a:t> </a:t>
            </a:r>
            <a:r>
              <a:rPr sz="2700" spc="-7" baseline="27777" dirty="0">
                <a:latin typeface="Symbol"/>
                <a:cs typeface="Symbol"/>
              </a:rPr>
              <a:t></a:t>
            </a:r>
            <a:endParaRPr sz="2700" baseline="27777"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247223" y="5642643"/>
            <a:ext cx="1130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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247223" y="5842170"/>
            <a:ext cx="210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04" baseline="3086" dirty="0">
                <a:latin typeface="Symbol"/>
                <a:cs typeface="Symbol"/>
              </a:rPr>
              <a:t></a:t>
            </a:r>
            <a:r>
              <a:rPr sz="1800" spc="-5" dirty="0">
                <a:latin typeface="Symbol"/>
                <a:cs typeface="Symbol"/>
              </a:rPr>
              <a:t>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500764" y="5976485"/>
            <a:ext cx="1130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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247223" y="5976485"/>
            <a:ext cx="210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latin typeface="Symbol"/>
                <a:cs typeface="Symbol"/>
              </a:rPr>
              <a:t></a:t>
            </a:r>
            <a:r>
              <a:rPr sz="2700" spc="-7" baseline="-4629" dirty="0">
                <a:latin typeface="Symbol"/>
                <a:cs typeface="Symbol"/>
              </a:rPr>
              <a:t></a:t>
            </a:r>
            <a:endParaRPr sz="2700" baseline="-4629">
              <a:latin typeface="Symbol"/>
              <a:cs typeface="Symbo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080180" y="5994791"/>
            <a:ext cx="1130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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850148" y="5769178"/>
            <a:ext cx="1651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53059"/>
            <a:ext cx="28619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0" dirty="0">
                <a:solidFill>
                  <a:srgbClr val="002060"/>
                </a:solidFill>
                <a:latin typeface="Calibri Light"/>
                <a:cs typeface="Calibri Light"/>
              </a:rPr>
              <a:t>C</a:t>
            </a:r>
            <a:r>
              <a:rPr sz="3600" spc="-80" dirty="0">
                <a:solidFill>
                  <a:srgbClr val="002060"/>
                </a:solidFill>
                <a:latin typeface="Calibri Light"/>
                <a:cs typeface="Calibri Light"/>
              </a:rPr>
              <a:t>o</a:t>
            </a:r>
            <a:r>
              <a:rPr sz="3600" spc="-120" dirty="0">
                <a:solidFill>
                  <a:srgbClr val="002060"/>
                </a:solidFill>
                <a:latin typeface="Calibri Light"/>
                <a:cs typeface="Calibri Light"/>
              </a:rPr>
              <a:t>n</a:t>
            </a:r>
            <a:r>
              <a:rPr sz="3600" spc="-70" dirty="0">
                <a:solidFill>
                  <a:srgbClr val="002060"/>
                </a:solidFill>
                <a:latin typeface="Calibri Light"/>
                <a:cs typeface="Calibri Light"/>
              </a:rPr>
              <a:t>t</a:t>
            </a:r>
            <a:r>
              <a:rPr sz="3600" spc="-150" dirty="0">
                <a:solidFill>
                  <a:srgbClr val="002060"/>
                </a:solidFill>
                <a:latin typeface="Calibri Light"/>
                <a:cs typeface="Calibri Light"/>
              </a:rPr>
              <a:t>r</a:t>
            </a:r>
            <a:r>
              <a:rPr sz="3600" spc="-90" dirty="0">
                <a:solidFill>
                  <a:srgbClr val="002060"/>
                </a:solidFill>
                <a:latin typeface="Calibri Light"/>
                <a:cs typeface="Calibri Light"/>
              </a:rPr>
              <a:t>o</a:t>
            </a:r>
            <a:r>
              <a:rPr sz="3600" spc="-75" dirty="0">
                <a:solidFill>
                  <a:srgbClr val="002060"/>
                </a:solidFill>
                <a:latin typeface="Calibri Light"/>
                <a:cs typeface="Calibri Light"/>
              </a:rPr>
              <a:t>l</a:t>
            </a:r>
            <a:r>
              <a:rPr sz="3600" spc="-65" dirty="0">
                <a:solidFill>
                  <a:srgbClr val="002060"/>
                </a:solidFill>
                <a:latin typeface="Calibri Light"/>
                <a:cs typeface="Calibri Light"/>
              </a:rPr>
              <a:t>l</a:t>
            </a:r>
            <a:r>
              <a:rPr sz="3600" spc="-90" dirty="0">
                <a:solidFill>
                  <a:srgbClr val="002060"/>
                </a:solidFill>
                <a:latin typeface="Calibri Light"/>
                <a:cs typeface="Calibri Light"/>
              </a:rPr>
              <a:t>e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r</a:t>
            </a:r>
            <a:r>
              <a:rPr sz="3600" spc="-175" dirty="0">
                <a:solidFill>
                  <a:srgbClr val="002060"/>
                </a:solidFill>
                <a:latin typeface="Calibri Light"/>
                <a:cs typeface="Calibri Light"/>
              </a:rPr>
              <a:t> </a:t>
            </a:r>
            <a:r>
              <a:rPr sz="3600" spc="-254" dirty="0">
                <a:solidFill>
                  <a:srgbClr val="002060"/>
                </a:solidFill>
                <a:latin typeface="Calibri Light"/>
                <a:cs typeface="Calibri Light"/>
              </a:rPr>
              <a:t>T</a:t>
            </a:r>
            <a:r>
              <a:rPr sz="3600" spc="-65" dirty="0">
                <a:solidFill>
                  <a:srgbClr val="002060"/>
                </a:solidFill>
                <a:latin typeface="Calibri Light"/>
                <a:cs typeface="Calibri Light"/>
              </a:rPr>
              <a:t>y</a:t>
            </a:r>
            <a:r>
              <a:rPr sz="3600" spc="-85" dirty="0">
                <a:solidFill>
                  <a:srgbClr val="002060"/>
                </a:solidFill>
                <a:latin typeface="Calibri Light"/>
                <a:cs typeface="Calibri Light"/>
              </a:rPr>
              <a:t>p</a:t>
            </a:r>
            <a:r>
              <a:rPr sz="3600" spc="-75" dirty="0">
                <a:solidFill>
                  <a:srgbClr val="002060"/>
                </a:solidFill>
                <a:latin typeface="Calibri Light"/>
                <a:cs typeface="Calibri Light"/>
              </a:rPr>
              <a:t>e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s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98567" y="1955393"/>
            <a:ext cx="3253104" cy="20066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300"/>
              </a:spcBef>
              <a:buClr>
                <a:srgbClr val="E48312"/>
              </a:buClr>
              <a:buSzPct val="75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Employs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triac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only</a:t>
            </a:r>
            <a:endParaRPr sz="2000">
              <a:latin typeface="Calibri"/>
              <a:cs typeface="Calibri"/>
            </a:endParaRPr>
          </a:p>
          <a:p>
            <a:pPr marL="354965" marR="555625" indent="-342900">
              <a:lnSpc>
                <a:spcPct val="100000"/>
              </a:lnSpc>
              <a:spcBef>
                <a:spcPts val="1200"/>
              </a:spcBef>
              <a:buClr>
                <a:srgbClr val="E48312"/>
              </a:buClr>
              <a:buSzPct val="75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Suitable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low power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applications</a:t>
            </a:r>
            <a:endParaRPr sz="2000">
              <a:latin typeface="Calibri"/>
              <a:cs typeface="Calibri"/>
            </a:endParaRPr>
          </a:p>
          <a:p>
            <a:pPr marL="354965" marR="5080" indent="-342900">
              <a:lnSpc>
                <a:spcPct val="100000"/>
              </a:lnSpc>
              <a:spcBef>
                <a:spcPts val="1200"/>
              </a:spcBef>
              <a:buClr>
                <a:srgbClr val="E48312"/>
              </a:buClr>
              <a:buSzPct val="75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2000" spc="-10" dirty="0">
                <a:latin typeface="Calibri"/>
                <a:cs typeface="Calibri"/>
              </a:rPr>
              <a:t>Isolated </a:t>
            </a:r>
            <a:r>
              <a:rPr sz="2000" dirty="0">
                <a:latin typeface="Calibri"/>
                <a:cs typeface="Calibri"/>
              </a:rPr>
              <a:t>trigger </a:t>
            </a:r>
            <a:r>
              <a:rPr sz="2000" spc="-5" dirty="0">
                <a:latin typeface="Calibri"/>
                <a:cs typeface="Calibri"/>
              </a:rPr>
              <a:t>circuit is not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necessary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1361947"/>
            <a:ext cx="2200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TRIAC</a:t>
            </a:r>
            <a:r>
              <a:rPr sz="24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connection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59808" y="2488147"/>
            <a:ext cx="22987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Arial MT"/>
                <a:cs typeface="Arial MT"/>
              </a:rPr>
              <a:t>MT1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88886" y="2488147"/>
            <a:ext cx="22987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Arial MT"/>
                <a:cs typeface="Arial MT"/>
              </a:rPr>
              <a:t>MT2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78991" y="2662427"/>
            <a:ext cx="2529840" cy="1012190"/>
            <a:chOff x="1078991" y="2662427"/>
            <a:chExt cx="2529840" cy="10121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7947" y="3102888"/>
              <a:ext cx="251459" cy="15613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86611" y="2670047"/>
              <a:ext cx="2514600" cy="996950"/>
            </a:xfrm>
            <a:custGeom>
              <a:avLst/>
              <a:gdLst/>
              <a:ahLst/>
              <a:cxnLst/>
              <a:rect l="l" t="t" r="r" b="b"/>
              <a:pathLst>
                <a:path w="2514600" h="996950">
                  <a:moveTo>
                    <a:pt x="297179" y="510539"/>
                  </a:moveTo>
                  <a:lnTo>
                    <a:pt x="289559" y="463564"/>
                  </a:lnTo>
                  <a:lnTo>
                    <a:pt x="268406" y="422952"/>
                  </a:lnTo>
                  <a:lnTo>
                    <a:pt x="236280" y="391046"/>
                  </a:lnTo>
                  <a:lnTo>
                    <a:pt x="195742" y="370185"/>
                  </a:lnTo>
                  <a:lnTo>
                    <a:pt x="149351" y="362711"/>
                  </a:lnTo>
                  <a:lnTo>
                    <a:pt x="102217" y="370185"/>
                  </a:lnTo>
                  <a:lnTo>
                    <a:pt x="61228" y="391046"/>
                  </a:lnTo>
                  <a:lnTo>
                    <a:pt x="28870" y="422952"/>
                  </a:lnTo>
                  <a:lnTo>
                    <a:pt x="7632" y="463564"/>
                  </a:lnTo>
                  <a:lnTo>
                    <a:pt x="0" y="510539"/>
                  </a:lnTo>
                  <a:lnTo>
                    <a:pt x="7632" y="557674"/>
                  </a:lnTo>
                  <a:lnTo>
                    <a:pt x="28870" y="598663"/>
                  </a:lnTo>
                  <a:lnTo>
                    <a:pt x="61228" y="631021"/>
                  </a:lnTo>
                  <a:lnTo>
                    <a:pt x="102217" y="652259"/>
                  </a:lnTo>
                  <a:lnTo>
                    <a:pt x="149351" y="659891"/>
                  </a:lnTo>
                  <a:lnTo>
                    <a:pt x="195742" y="652259"/>
                  </a:lnTo>
                  <a:lnTo>
                    <a:pt x="236280" y="631021"/>
                  </a:lnTo>
                  <a:lnTo>
                    <a:pt x="268406" y="598663"/>
                  </a:lnTo>
                  <a:lnTo>
                    <a:pt x="289559" y="557674"/>
                  </a:lnTo>
                  <a:lnTo>
                    <a:pt x="297179" y="510539"/>
                  </a:lnTo>
                </a:path>
                <a:path w="2514600" h="996950">
                  <a:moveTo>
                    <a:pt x="149351" y="362711"/>
                  </a:moveTo>
                  <a:lnTo>
                    <a:pt x="149351" y="0"/>
                  </a:lnTo>
                </a:path>
                <a:path w="2514600" h="996950">
                  <a:moveTo>
                    <a:pt x="149351" y="0"/>
                  </a:moveTo>
                  <a:lnTo>
                    <a:pt x="1272539" y="0"/>
                  </a:lnTo>
                </a:path>
                <a:path w="2514600" h="996950">
                  <a:moveTo>
                    <a:pt x="2514599" y="615695"/>
                  </a:moveTo>
                  <a:lnTo>
                    <a:pt x="2514599" y="996695"/>
                  </a:lnTo>
                  <a:lnTo>
                    <a:pt x="149351" y="996695"/>
                  </a:lnTo>
                  <a:lnTo>
                    <a:pt x="149351" y="670559"/>
                  </a:lnTo>
                </a:path>
                <a:path w="2514600" h="996950">
                  <a:moveTo>
                    <a:pt x="2514599" y="271271"/>
                  </a:moveTo>
                  <a:lnTo>
                    <a:pt x="2514599" y="0"/>
                  </a:lnTo>
                  <a:lnTo>
                    <a:pt x="1417319" y="0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92931" y="3045993"/>
            <a:ext cx="22034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i="1" spc="-5" dirty="0">
                <a:latin typeface="Times New Roman"/>
                <a:cs typeface="Times New Roman"/>
              </a:rPr>
              <a:t>V</a:t>
            </a:r>
            <a:r>
              <a:rPr sz="1200" i="1" spc="-7" baseline="-27777" dirty="0">
                <a:latin typeface="Times New Roman"/>
                <a:cs typeface="Times New Roman"/>
              </a:rPr>
              <a:t>S</a:t>
            </a:r>
            <a:endParaRPr sz="1200" baseline="-27777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29398" y="2997200"/>
            <a:ext cx="243204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i="1" dirty="0">
                <a:latin typeface="Times New Roman"/>
                <a:cs typeface="Times New Roman"/>
              </a:rPr>
              <a:t>V</a:t>
            </a:r>
            <a:r>
              <a:rPr sz="1200" i="1" baseline="-27777" dirty="0">
                <a:latin typeface="Times New Roman"/>
                <a:cs typeface="Times New Roman"/>
              </a:rPr>
              <a:t>O</a:t>
            </a:r>
            <a:endParaRPr sz="1200" baseline="-27777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57627" y="2468879"/>
            <a:ext cx="1330960" cy="955675"/>
            <a:chOff x="2357627" y="2468879"/>
            <a:chExt cx="1330960" cy="955675"/>
          </a:xfrm>
        </p:grpSpPr>
        <p:sp>
          <p:nvSpPr>
            <p:cNvPr id="13" name="object 13"/>
            <p:cNvSpPr/>
            <p:nvPr/>
          </p:nvSpPr>
          <p:spPr>
            <a:xfrm>
              <a:off x="3521964" y="2927603"/>
              <a:ext cx="158750" cy="489584"/>
            </a:xfrm>
            <a:custGeom>
              <a:avLst/>
              <a:gdLst/>
              <a:ahLst/>
              <a:cxnLst/>
              <a:rect l="l" t="t" r="r" b="b"/>
              <a:pathLst>
                <a:path w="158750" h="489585">
                  <a:moveTo>
                    <a:pt x="158496" y="0"/>
                  </a:moveTo>
                  <a:lnTo>
                    <a:pt x="0" y="0"/>
                  </a:lnTo>
                  <a:lnTo>
                    <a:pt x="0" y="489204"/>
                  </a:lnTo>
                  <a:lnTo>
                    <a:pt x="158496" y="489204"/>
                  </a:lnTo>
                  <a:lnTo>
                    <a:pt x="158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21963" y="2927603"/>
              <a:ext cx="158750" cy="489584"/>
            </a:xfrm>
            <a:custGeom>
              <a:avLst/>
              <a:gdLst/>
              <a:ahLst/>
              <a:cxnLst/>
              <a:rect l="l" t="t" r="r" b="b"/>
              <a:pathLst>
                <a:path w="158750" h="489585">
                  <a:moveTo>
                    <a:pt x="158495" y="489203"/>
                  </a:moveTo>
                  <a:lnTo>
                    <a:pt x="158495" y="0"/>
                  </a:lnTo>
                  <a:lnTo>
                    <a:pt x="0" y="0"/>
                  </a:lnTo>
                  <a:lnTo>
                    <a:pt x="0" y="489203"/>
                  </a:lnTo>
                  <a:lnTo>
                    <a:pt x="158495" y="489203"/>
                  </a:lnTo>
                  <a:close/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5492" y="3002279"/>
              <a:ext cx="94487" cy="3337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57627" y="2638043"/>
              <a:ext cx="160019" cy="23317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510027" y="2476499"/>
              <a:ext cx="83820" cy="387350"/>
            </a:xfrm>
            <a:custGeom>
              <a:avLst/>
              <a:gdLst/>
              <a:ahLst/>
              <a:cxnLst/>
              <a:rect l="l" t="t" r="r" b="b"/>
              <a:pathLst>
                <a:path w="83819" h="387350">
                  <a:moveTo>
                    <a:pt x="1523" y="0"/>
                  </a:moveTo>
                  <a:lnTo>
                    <a:pt x="0" y="387095"/>
                  </a:lnTo>
                </a:path>
                <a:path w="83819" h="387350">
                  <a:moveTo>
                    <a:pt x="0" y="303275"/>
                  </a:moveTo>
                  <a:lnTo>
                    <a:pt x="83819" y="387095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59151" y="2468879"/>
              <a:ext cx="160019" cy="23164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365247" y="2476499"/>
              <a:ext cx="1905" cy="387350"/>
            </a:xfrm>
            <a:custGeom>
              <a:avLst/>
              <a:gdLst/>
              <a:ahLst/>
              <a:cxnLst/>
              <a:rect l="l" t="t" r="r" b="b"/>
              <a:pathLst>
                <a:path w="1905" h="387350">
                  <a:moveTo>
                    <a:pt x="1523" y="0"/>
                  </a:moveTo>
                  <a:lnTo>
                    <a:pt x="0" y="387095"/>
                  </a:lnTo>
                </a:path>
              </a:pathLst>
            </a:custGeom>
            <a:ln w="15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14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53059"/>
            <a:ext cx="1511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0" dirty="0">
                <a:solidFill>
                  <a:srgbClr val="002060"/>
                </a:solidFill>
                <a:latin typeface="Calibri Light"/>
                <a:cs typeface="Calibri Light"/>
              </a:rPr>
              <a:t>E</a:t>
            </a:r>
            <a:r>
              <a:rPr sz="3600" spc="-140" dirty="0">
                <a:solidFill>
                  <a:srgbClr val="002060"/>
                </a:solidFill>
                <a:latin typeface="Calibri Light"/>
                <a:cs typeface="Calibri Light"/>
              </a:rPr>
              <a:t>x</a:t>
            </a:r>
            <a:r>
              <a:rPr sz="3600" spc="-75" dirty="0">
                <a:solidFill>
                  <a:srgbClr val="002060"/>
                </a:solidFill>
                <a:latin typeface="Calibri Light"/>
                <a:cs typeface="Calibri Light"/>
              </a:rPr>
              <a:t>a</a:t>
            </a:r>
            <a:r>
              <a:rPr sz="3600" spc="-114" dirty="0">
                <a:solidFill>
                  <a:srgbClr val="002060"/>
                </a:solidFill>
                <a:latin typeface="Calibri Light"/>
                <a:cs typeface="Calibri Light"/>
              </a:rPr>
              <a:t>m</a:t>
            </a:r>
            <a:r>
              <a:rPr sz="3600" spc="-85" dirty="0">
                <a:solidFill>
                  <a:srgbClr val="002060"/>
                </a:solidFill>
                <a:latin typeface="Calibri Light"/>
                <a:cs typeface="Calibri Light"/>
              </a:rPr>
              <a:t>p</a:t>
            </a:r>
            <a:r>
              <a:rPr sz="3600" spc="-75" dirty="0">
                <a:solidFill>
                  <a:srgbClr val="002060"/>
                </a:solidFill>
                <a:latin typeface="Calibri Light"/>
                <a:cs typeface="Calibri Light"/>
              </a:rPr>
              <a:t>l</a:t>
            </a:r>
            <a:r>
              <a:rPr sz="3600" dirty="0">
                <a:solidFill>
                  <a:srgbClr val="002060"/>
                </a:solidFill>
                <a:latin typeface="Calibri Light"/>
                <a:cs typeface="Calibri Light"/>
              </a:rPr>
              <a:t>e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47" y="1265975"/>
            <a:ext cx="742886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single </a:t>
            </a:r>
            <a:r>
              <a:rPr sz="2000" dirty="0">
                <a:latin typeface="Calibri"/>
                <a:cs typeface="Calibri"/>
              </a:rPr>
              <a:t>phase </a:t>
            </a:r>
            <a:r>
              <a:rPr sz="2000" spc="-5" dirty="0">
                <a:latin typeface="Calibri"/>
                <a:cs typeface="Calibri"/>
              </a:rPr>
              <a:t>full </a:t>
            </a:r>
            <a:r>
              <a:rPr sz="2000" spc="-25" dirty="0">
                <a:latin typeface="Calibri"/>
                <a:cs typeface="Calibri"/>
              </a:rPr>
              <a:t>wave </a:t>
            </a:r>
            <a:r>
              <a:rPr sz="2000" dirty="0">
                <a:latin typeface="Calibri"/>
                <a:cs typeface="Calibri"/>
              </a:rPr>
              <a:t>ac </a:t>
            </a:r>
            <a:r>
              <a:rPr sz="2000" spc="-10" dirty="0">
                <a:latin typeface="Calibri"/>
                <a:cs typeface="Calibri"/>
              </a:rPr>
              <a:t>voltage controller </a:t>
            </a:r>
            <a:r>
              <a:rPr sz="2000" spc="-5" dirty="0">
                <a:latin typeface="Calibri"/>
                <a:cs typeface="Calibri"/>
              </a:rPr>
              <a:t>has input </a:t>
            </a:r>
            <a:r>
              <a:rPr sz="2000" spc="-10" dirty="0">
                <a:latin typeface="Calibri"/>
                <a:cs typeface="Calibri"/>
              </a:rPr>
              <a:t>voltage </a:t>
            </a:r>
            <a:r>
              <a:rPr sz="2000" spc="-5" dirty="0">
                <a:latin typeface="Calibri"/>
                <a:cs typeface="Calibri"/>
              </a:rPr>
              <a:t>of 240 </a:t>
            </a:r>
            <a:r>
              <a:rPr sz="2000" spc="-80" dirty="0">
                <a:latin typeface="Calibri"/>
                <a:cs typeface="Calibri"/>
              </a:rPr>
              <a:t>V,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50 </a:t>
            </a:r>
            <a:r>
              <a:rPr sz="2000" spc="-5" dirty="0">
                <a:latin typeface="Calibri"/>
                <a:cs typeface="Calibri"/>
              </a:rPr>
              <a:t>Hz and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load </a:t>
            </a:r>
            <a:r>
              <a:rPr sz="2000" spc="-10" dirty="0">
                <a:latin typeface="Calibri"/>
                <a:cs typeface="Calibri"/>
              </a:rPr>
              <a:t>resistance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20 </a:t>
            </a:r>
            <a:r>
              <a:rPr sz="2000" spc="-5" dirty="0">
                <a:latin typeface="Calibri"/>
                <a:cs typeface="Calibri"/>
              </a:rPr>
              <a:t>ohms. </a:t>
            </a:r>
            <a:r>
              <a:rPr sz="2000" spc="-10" dirty="0">
                <a:latin typeface="Calibri"/>
                <a:cs typeface="Calibri"/>
              </a:rPr>
              <a:t>The delay </a:t>
            </a:r>
            <a:r>
              <a:rPr sz="2000" spc="-5" dirty="0">
                <a:latin typeface="Calibri"/>
                <a:cs typeface="Calibri"/>
              </a:rPr>
              <a:t>angle of </a:t>
            </a:r>
            <a:r>
              <a:rPr sz="2000" spc="-15" dirty="0">
                <a:latin typeface="Calibri"/>
                <a:cs typeface="Calibri"/>
              </a:rPr>
              <a:t>thyristors </a:t>
            </a:r>
            <a:r>
              <a:rPr sz="2000" spc="-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 60 </a:t>
            </a:r>
            <a:r>
              <a:rPr sz="2000" spc="-5" dirty="0">
                <a:latin typeface="Calibri"/>
                <a:cs typeface="Calibri"/>
              </a:rPr>
              <a:t>degrees. Determine </a:t>
            </a:r>
            <a:r>
              <a:rPr sz="2000" dirty="0">
                <a:latin typeface="Calibri"/>
                <a:cs typeface="Calibri"/>
              </a:rPr>
              <a:t>the rms </a:t>
            </a:r>
            <a:r>
              <a:rPr sz="2000" spc="-5" dirty="0">
                <a:latin typeface="Calibri"/>
                <a:cs typeface="Calibri"/>
              </a:rPr>
              <a:t>output </a:t>
            </a:r>
            <a:r>
              <a:rPr sz="2000" spc="-10" dirty="0">
                <a:latin typeface="Calibri"/>
                <a:cs typeface="Calibri"/>
              </a:rPr>
              <a:t>voltage, </a:t>
            </a:r>
            <a:r>
              <a:rPr sz="2000" spc="-5" dirty="0">
                <a:latin typeface="Calibri"/>
                <a:cs typeface="Calibri"/>
              </a:rPr>
              <a:t>input </a:t>
            </a:r>
            <a:r>
              <a:rPr sz="2000" spc="-10" dirty="0">
                <a:latin typeface="Calibri"/>
                <a:cs typeface="Calibri"/>
              </a:rPr>
              <a:t>power factor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average</a:t>
            </a:r>
            <a:r>
              <a:rPr sz="2000" dirty="0">
                <a:latin typeface="Calibri"/>
                <a:cs typeface="Calibri"/>
              </a:rPr>
              <a:t> 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rms </a:t>
            </a:r>
            <a:r>
              <a:rPr sz="2000" spc="-10" dirty="0">
                <a:latin typeface="Calibri"/>
                <a:cs typeface="Calibri"/>
              </a:rPr>
              <a:t>current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dirty="0">
                <a:latin typeface="Calibri"/>
                <a:cs typeface="Calibri"/>
              </a:rPr>
              <a:t> each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thyristor.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00014" y="3305078"/>
            <a:ext cx="312420" cy="278130"/>
            <a:chOff x="2400014" y="3305078"/>
            <a:chExt cx="312420" cy="278130"/>
          </a:xfrm>
        </p:grpSpPr>
        <p:sp>
          <p:nvSpPr>
            <p:cNvPr id="5" name="object 5"/>
            <p:cNvSpPr/>
            <p:nvPr/>
          </p:nvSpPr>
          <p:spPr>
            <a:xfrm>
              <a:off x="2420873" y="3343751"/>
              <a:ext cx="139700" cy="239395"/>
            </a:xfrm>
            <a:custGeom>
              <a:avLst/>
              <a:gdLst/>
              <a:ahLst/>
              <a:cxnLst/>
              <a:rect l="l" t="t" r="r" b="b"/>
              <a:pathLst>
                <a:path w="139700" h="239395">
                  <a:moveTo>
                    <a:pt x="0" y="161543"/>
                  </a:moveTo>
                  <a:lnTo>
                    <a:pt x="23240" y="148399"/>
                  </a:lnTo>
                </a:path>
                <a:path w="139700" h="239395">
                  <a:moveTo>
                    <a:pt x="23240" y="148399"/>
                  </a:moveTo>
                  <a:lnTo>
                    <a:pt x="78582" y="238981"/>
                  </a:lnTo>
                </a:path>
                <a:path w="139700" h="239395">
                  <a:moveTo>
                    <a:pt x="78582" y="238981"/>
                  </a:moveTo>
                  <a:lnTo>
                    <a:pt x="1392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19057" y="3338423"/>
              <a:ext cx="274320" cy="244475"/>
            </a:xfrm>
            <a:custGeom>
              <a:avLst/>
              <a:gdLst/>
              <a:ahLst/>
              <a:cxnLst/>
              <a:rect l="l" t="t" r="r" b="b"/>
              <a:pathLst>
                <a:path w="274319" h="244475">
                  <a:moveTo>
                    <a:pt x="273850" y="0"/>
                  </a:moveTo>
                  <a:lnTo>
                    <a:pt x="136969" y="0"/>
                  </a:lnTo>
                  <a:lnTo>
                    <a:pt x="80962" y="220497"/>
                  </a:lnTo>
                  <a:lnTo>
                    <a:pt x="31534" y="146583"/>
                  </a:lnTo>
                  <a:lnTo>
                    <a:pt x="0" y="163817"/>
                  </a:lnTo>
                  <a:lnTo>
                    <a:pt x="3619" y="170395"/>
                  </a:lnTo>
                  <a:lnTo>
                    <a:pt x="19050" y="160870"/>
                  </a:lnTo>
                  <a:lnTo>
                    <a:pt x="75056" y="244309"/>
                  </a:lnTo>
                  <a:lnTo>
                    <a:pt x="86309" y="244309"/>
                  </a:lnTo>
                  <a:lnTo>
                    <a:pt x="145262" y="11328"/>
                  </a:lnTo>
                  <a:lnTo>
                    <a:pt x="273850" y="11328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00014" y="3309842"/>
              <a:ext cx="312420" cy="0"/>
            </a:xfrm>
            <a:custGeom>
              <a:avLst/>
              <a:gdLst/>
              <a:ahLst/>
              <a:cxnLst/>
              <a:rect l="l" t="t" r="r" b="b"/>
              <a:pathLst>
                <a:path w="312419">
                  <a:moveTo>
                    <a:pt x="0" y="0"/>
                  </a:moveTo>
                  <a:lnTo>
                    <a:pt x="311942" y="0"/>
                  </a:lnTo>
                </a:path>
              </a:pathLst>
            </a:custGeom>
            <a:ln w="95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157210" y="3068350"/>
            <a:ext cx="70739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18490" algn="l"/>
              </a:tabLst>
            </a:pPr>
            <a:r>
              <a:rPr sz="2350" spc="-195" dirty="0">
                <a:latin typeface="Symbol"/>
                <a:cs typeface="Symbol"/>
              </a:rPr>
              <a:t></a:t>
            </a:r>
            <a:r>
              <a:rPr sz="2350" spc="-195" dirty="0">
                <a:latin typeface="Times New Roman"/>
                <a:cs typeface="Times New Roman"/>
              </a:rPr>
              <a:t>	</a:t>
            </a:r>
            <a:r>
              <a:rPr sz="2350" spc="-195" dirty="0">
                <a:latin typeface="Symbol"/>
                <a:cs typeface="Symbol"/>
              </a:rPr>
              <a:t>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888420" y="3032093"/>
            <a:ext cx="80010" cy="0"/>
          </a:xfrm>
          <a:custGeom>
            <a:avLst/>
            <a:gdLst/>
            <a:ahLst/>
            <a:cxnLst/>
            <a:rect l="l" t="t" r="r" b="b"/>
            <a:pathLst>
              <a:path w="80010">
                <a:moveTo>
                  <a:pt x="0" y="0"/>
                </a:moveTo>
                <a:lnTo>
                  <a:pt x="79819" y="0"/>
                </a:lnTo>
              </a:path>
            </a:pathLst>
          </a:custGeom>
          <a:ln w="47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82307" y="2808822"/>
            <a:ext cx="95250" cy="40068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50" spc="-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215"/>
              </a:spcBef>
            </a:pPr>
            <a:r>
              <a:rPr sz="1050" spc="-5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40800" y="3279728"/>
            <a:ext cx="51371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75" dirty="0">
                <a:latin typeface="Times New Roman"/>
                <a:cs typeface="Times New Roman"/>
              </a:rPr>
              <a:t>O</a:t>
            </a:r>
            <a:r>
              <a:rPr sz="1050" spc="-5" dirty="0">
                <a:latin typeface="Times New Roman"/>
                <a:cs typeface="Times New Roman"/>
              </a:rPr>
              <a:t>(</a:t>
            </a:r>
            <a:r>
              <a:rPr sz="1050" spc="-145" dirty="0">
                <a:latin typeface="Times New Roman"/>
                <a:cs typeface="Times New Roman"/>
              </a:rPr>
              <a:t> </a:t>
            </a:r>
            <a:r>
              <a:rPr sz="1050" i="1" spc="-5" dirty="0">
                <a:latin typeface="Times New Roman"/>
                <a:cs typeface="Times New Roman"/>
              </a:rPr>
              <a:t>R</a:t>
            </a:r>
            <a:r>
              <a:rPr sz="1050" i="1" spc="-20" dirty="0">
                <a:latin typeface="Times New Roman"/>
                <a:cs typeface="Times New Roman"/>
              </a:rPr>
              <a:t>M</a:t>
            </a:r>
            <a:r>
              <a:rPr sz="1050" i="1" spc="-5" dirty="0">
                <a:latin typeface="Times New Roman"/>
                <a:cs typeface="Times New Roman"/>
              </a:rPr>
              <a:t>S</a:t>
            </a:r>
            <a:r>
              <a:rPr sz="1050" i="1" spc="-105" dirty="0">
                <a:latin typeface="Times New Roman"/>
                <a:cs typeface="Times New Roman"/>
              </a:rPr>
              <a:t> </a:t>
            </a:r>
            <a:r>
              <a:rPr sz="1050" spc="-5" dirty="0"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54804" y="2920278"/>
            <a:ext cx="831215" cy="6845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  <a:tabLst>
                <a:tab pos="730250" algn="l"/>
              </a:tabLst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1800" u="sng" spc="-1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1900" u="sng" spc="-6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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2700" spc="-7" baseline="1543" dirty="0">
                <a:latin typeface="Symbol"/>
                <a:cs typeface="Symbol"/>
              </a:rPr>
              <a:t></a:t>
            </a:r>
            <a:endParaRPr sz="2700" baseline="1543">
              <a:latin typeface="Symbol"/>
              <a:cs typeface="Symbol"/>
            </a:endParaRPr>
          </a:p>
          <a:p>
            <a:pPr marL="247015">
              <a:lnSpc>
                <a:spcPct val="100000"/>
              </a:lnSpc>
              <a:spcBef>
                <a:spcPts val="365"/>
              </a:spcBef>
            </a:pPr>
            <a:r>
              <a:rPr sz="1800" spc="-5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45948" y="2998447"/>
            <a:ext cx="1130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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38119" y="3112035"/>
            <a:ext cx="78740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8970" algn="l"/>
              </a:tabLst>
            </a:pPr>
            <a:r>
              <a:rPr sz="1900" spc="-60" dirty="0">
                <a:latin typeface="Symbol"/>
                <a:cs typeface="Symbol"/>
              </a:rPr>
              <a:t></a:t>
            </a:r>
            <a:r>
              <a:rPr sz="1900" spc="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Symbol"/>
                <a:cs typeface="Symbol"/>
              </a:rPr>
              <a:t></a:t>
            </a:r>
            <a:r>
              <a:rPr sz="1800" spc="-285" dirty="0">
                <a:latin typeface="Times New Roman"/>
                <a:cs typeface="Times New Roman"/>
              </a:rPr>
              <a:t> </a:t>
            </a:r>
            <a:r>
              <a:rPr sz="1900" spc="-65" dirty="0">
                <a:latin typeface="Symbol"/>
                <a:cs typeface="Symbol"/>
              </a:rPr>
              <a:t>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Symbol"/>
                <a:cs typeface="Symbol"/>
              </a:rPr>
              <a:t>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32872" y="3185256"/>
            <a:ext cx="65151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-29320" dirty="0">
                <a:latin typeface="Times New Roman"/>
                <a:cs typeface="Times New Roman"/>
              </a:rPr>
              <a:t>2</a:t>
            </a:r>
            <a:r>
              <a:rPr sz="2700" spc="97" baseline="-2932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Symbol"/>
                <a:cs typeface="Symbol"/>
              </a:rPr>
              <a:t></a:t>
            </a:r>
            <a:r>
              <a:rPr sz="2850" spc="37" baseline="-24853" dirty="0">
                <a:latin typeface="Symbol"/>
                <a:cs typeface="Symbol"/>
              </a:rPr>
              <a:t></a:t>
            </a:r>
            <a:r>
              <a:rPr sz="2850" spc="120" baseline="-24853" dirty="0">
                <a:latin typeface="Times New Roman"/>
                <a:cs typeface="Times New Roman"/>
              </a:rPr>
              <a:t> </a:t>
            </a:r>
            <a:r>
              <a:rPr sz="2700" spc="-7" baseline="3086" dirty="0">
                <a:latin typeface="Symbol"/>
                <a:cs typeface="Symbol"/>
              </a:rPr>
              <a:t></a:t>
            </a:r>
            <a:endParaRPr sz="2700" baseline="3086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75063" y="2998447"/>
            <a:ext cx="1130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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75063" y="3198203"/>
            <a:ext cx="210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04" baseline="3086" dirty="0">
                <a:latin typeface="Symbol"/>
                <a:cs typeface="Symbol"/>
              </a:rPr>
              <a:t></a:t>
            </a:r>
            <a:r>
              <a:rPr sz="1800" spc="-5" dirty="0">
                <a:latin typeface="Symbol"/>
                <a:cs typeface="Symbol"/>
              </a:rPr>
              <a:t>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45948" y="3332289"/>
            <a:ext cx="1130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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75063" y="3332289"/>
            <a:ext cx="210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latin typeface="Symbol"/>
                <a:cs typeface="Symbol"/>
              </a:rPr>
              <a:t></a:t>
            </a:r>
            <a:r>
              <a:rPr sz="2700" spc="-7" baseline="-4629" dirty="0">
                <a:latin typeface="Symbol"/>
                <a:cs typeface="Symbol"/>
              </a:rPr>
              <a:t></a:t>
            </a:r>
            <a:endParaRPr sz="2700" baseline="-4629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42662" y="3350594"/>
            <a:ext cx="1130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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79152" y="2981743"/>
            <a:ext cx="856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-35493" dirty="0">
                <a:latin typeface="Symbol"/>
                <a:cs typeface="Symbol"/>
              </a:rPr>
              <a:t></a:t>
            </a:r>
            <a:r>
              <a:rPr sz="2700" spc="254" baseline="-35493" dirty="0">
                <a:latin typeface="Times New Roman"/>
                <a:cs typeface="Times New Roman"/>
              </a:rPr>
              <a:t> </a:t>
            </a:r>
            <a:r>
              <a:rPr sz="2700" i="1" spc="-112" baseline="1543" dirty="0">
                <a:latin typeface="Times New Roman"/>
                <a:cs typeface="Times New Roman"/>
              </a:rPr>
              <a:t>V</a:t>
            </a:r>
            <a:r>
              <a:rPr sz="1575" i="1" u="sng" spc="-7" baseline="-2380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sz="1575" i="1" baseline="-23809" dirty="0">
                <a:latin typeface="Times New Roman"/>
                <a:cs typeface="Times New Roman"/>
              </a:rPr>
              <a:t>  </a:t>
            </a:r>
            <a:r>
              <a:rPr sz="1575" i="1" spc="75" baseline="-23809" dirty="0">
                <a:latin typeface="Times New Roman"/>
                <a:cs typeface="Times New Roman"/>
              </a:rPr>
              <a:t> </a:t>
            </a:r>
            <a:r>
              <a:rPr sz="2700" spc="-7" baseline="1543" dirty="0">
                <a:latin typeface="Symbol"/>
                <a:cs typeface="Symbol"/>
              </a:rPr>
              <a:t></a:t>
            </a:r>
            <a:r>
              <a:rPr sz="2700" spc="-202" baseline="1543" dirty="0">
                <a:latin typeface="Times New Roman"/>
                <a:cs typeface="Times New Roman"/>
              </a:rPr>
              <a:t> 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12859" y="3124982"/>
            <a:ext cx="1651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419057" y="4252912"/>
            <a:ext cx="274320" cy="244475"/>
            <a:chOff x="2419057" y="4252912"/>
            <a:chExt cx="274320" cy="244475"/>
          </a:xfrm>
        </p:grpSpPr>
        <p:sp>
          <p:nvSpPr>
            <p:cNvPr id="24" name="object 24"/>
            <p:cNvSpPr/>
            <p:nvPr/>
          </p:nvSpPr>
          <p:spPr>
            <a:xfrm>
              <a:off x="2420874" y="4258342"/>
              <a:ext cx="139700" cy="238760"/>
            </a:xfrm>
            <a:custGeom>
              <a:avLst/>
              <a:gdLst/>
              <a:ahLst/>
              <a:cxnLst/>
              <a:rect l="l" t="t" r="r" b="b"/>
              <a:pathLst>
                <a:path w="139700" h="238760">
                  <a:moveTo>
                    <a:pt x="0" y="161162"/>
                  </a:moveTo>
                  <a:lnTo>
                    <a:pt x="23240" y="148112"/>
                  </a:lnTo>
                </a:path>
                <a:path w="139700" h="238760">
                  <a:moveTo>
                    <a:pt x="23240" y="148112"/>
                  </a:moveTo>
                  <a:lnTo>
                    <a:pt x="78582" y="238600"/>
                  </a:lnTo>
                </a:path>
                <a:path w="139700" h="238760">
                  <a:moveTo>
                    <a:pt x="78582" y="238600"/>
                  </a:moveTo>
                  <a:lnTo>
                    <a:pt x="1392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419057" y="4252912"/>
              <a:ext cx="274320" cy="244475"/>
            </a:xfrm>
            <a:custGeom>
              <a:avLst/>
              <a:gdLst/>
              <a:ahLst/>
              <a:cxnLst/>
              <a:rect l="l" t="t" r="r" b="b"/>
              <a:pathLst>
                <a:path w="274319" h="244475">
                  <a:moveTo>
                    <a:pt x="273850" y="0"/>
                  </a:moveTo>
                  <a:lnTo>
                    <a:pt x="136969" y="0"/>
                  </a:lnTo>
                  <a:lnTo>
                    <a:pt x="80962" y="220218"/>
                  </a:lnTo>
                  <a:lnTo>
                    <a:pt x="31534" y="146392"/>
                  </a:lnTo>
                  <a:lnTo>
                    <a:pt x="0" y="163639"/>
                  </a:lnTo>
                  <a:lnTo>
                    <a:pt x="3619" y="170205"/>
                  </a:lnTo>
                  <a:lnTo>
                    <a:pt x="19050" y="160680"/>
                  </a:lnTo>
                  <a:lnTo>
                    <a:pt x="75056" y="244030"/>
                  </a:lnTo>
                  <a:lnTo>
                    <a:pt x="86309" y="244030"/>
                  </a:lnTo>
                  <a:lnTo>
                    <a:pt x="145262" y="11328"/>
                  </a:lnTo>
                  <a:lnTo>
                    <a:pt x="273850" y="11328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2679852" y="4593247"/>
            <a:ext cx="274320" cy="244475"/>
            <a:chOff x="2679852" y="4593247"/>
            <a:chExt cx="274320" cy="244475"/>
          </a:xfrm>
        </p:grpSpPr>
        <p:sp>
          <p:nvSpPr>
            <p:cNvPr id="27" name="object 27"/>
            <p:cNvSpPr/>
            <p:nvPr/>
          </p:nvSpPr>
          <p:spPr>
            <a:xfrm>
              <a:off x="2681573" y="4598669"/>
              <a:ext cx="272415" cy="238760"/>
            </a:xfrm>
            <a:custGeom>
              <a:avLst/>
              <a:gdLst/>
              <a:ahLst/>
              <a:cxnLst/>
              <a:rect l="l" t="t" r="r" b="b"/>
              <a:pathLst>
                <a:path w="272414" h="238760">
                  <a:moveTo>
                    <a:pt x="0" y="161162"/>
                  </a:moveTo>
                  <a:lnTo>
                    <a:pt x="23240" y="148114"/>
                  </a:lnTo>
                </a:path>
                <a:path w="272414" h="238760">
                  <a:moveTo>
                    <a:pt x="23240" y="148114"/>
                  </a:moveTo>
                  <a:lnTo>
                    <a:pt x="78580" y="238505"/>
                  </a:lnTo>
                </a:path>
                <a:path w="272414" h="238760">
                  <a:moveTo>
                    <a:pt x="78580" y="238505"/>
                  </a:moveTo>
                  <a:lnTo>
                    <a:pt x="139349" y="0"/>
                  </a:lnTo>
                </a:path>
                <a:path w="272414" h="238760">
                  <a:moveTo>
                    <a:pt x="139349" y="0"/>
                  </a:moveTo>
                  <a:lnTo>
                    <a:pt x="2721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79852" y="4593247"/>
              <a:ext cx="274320" cy="244475"/>
            </a:xfrm>
            <a:custGeom>
              <a:avLst/>
              <a:gdLst/>
              <a:ahLst/>
              <a:cxnLst/>
              <a:rect l="l" t="t" r="r" b="b"/>
              <a:pathLst>
                <a:path w="274319" h="244475">
                  <a:moveTo>
                    <a:pt x="273850" y="0"/>
                  </a:moveTo>
                  <a:lnTo>
                    <a:pt x="136880" y="0"/>
                  </a:lnTo>
                  <a:lnTo>
                    <a:pt x="80962" y="220205"/>
                  </a:lnTo>
                  <a:lnTo>
                    <a:pt x="31534" y="146392"/>
                  </a:lnTo>
                  <a:lnTo>
                    <a:pt x="0" y="163626"/>
                  </a:lnTo>
                  <a:lnTo>
                    <a:pt x="3530" y="170205"/>
                  </a:lnTo>
                  <a:lnTo>
                    <a:pt x="19050" y="160680"/>
                  </a:lnTo>
                  <a:lnTo>
                    <a:pt x="74968" y="243928"/>
                  </a:lnTo>
                  <a:lnTo>
                    <a:pt x="86309" y="243928"/>
                  </a:lnTo>
                  <a:lnTo>
                    <a:pt x="145262" y="11328"/>
                  </a:lnTo>
                  <a:lnTo>
                    <a:pt x="273850" y="11328"/>
                  </a:lnTo>
                  <a:lnTo>
                    <a:pt x="273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3377564" y="4564760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4">
                <a:moveTo>
                  <a:pt x="0" y="0"/>
                </a:moveTo>
                <a:lnTo>
                  <a:pt x="170212" y="0"/>
                </a:lnTo>
              </a:path>
            </a:pathLst>
          </a:custGeom>
          <a:ln w="95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160996" y="4564760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4">
                <a:moveTo>
                  <a:pt x="0" y="0"/>
                </a:moveTo>
                <a:lnTo>
                  <a:pt x="170210" y="0"/>
                </a:lnTo>
              </a:path>
            </a:pathLst>
          </a:custGeom>
          <a:ln w="95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661059" y="4564760"/>
            <a:ext cx="801370" cy="0"/>
          </a:xfrm>
          <a:custGeom>
            <a:avLst/>
            <a:gdLst/>
            <a:ahLst/>
            <a:cxnLst/>
            <a:rect l="l" t="t" r="r" b="b"/>
            <a:pathLst>
              <a:path w="801370">
                <a:moveTo>
                  <a:pt x="0" y="0"/>
                </a:moveTo>
                <a:lnTo>
                  <a:pt x="801242" y="0"/>
                </a:lnTo>
              </a:path>
            </a:pathLst>
          </a:custGeom>
          <a:ln w="95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696902" y="4026884"/>
            <a:ext cx="80010" cy="0"/>
          </a:xfrm>
          <a:custGeom>
            <a:avLst/>
            <a:gdLst/>
            <a:ahLst/>
            <a:cxnLst/>
            <a:rect l="l" t="t" r="r" b="b"/>
            <a:pathLst>
              <a:path w="80010">
                <a:moveTo>
                  <a:pt x="0" y="0"/>
                </a:moveTo>
                <a:lnTo>
                  <a:pt x="79725" y="0"/>
                </a:lnTo>
              </a:path>
            </a:pathLst>
          </a:custGeom>
          <a:ln w="47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690301" y="3831713"/>
            <a:ext cx="920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40960" y="4534199"/>
            <a:ext cx="5137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75" dirty="0">
                <a:latin typeface="Times New Roman"/>
                <a:cs typeface="Times New Roman"/>
              </a:rPr>
              <a:t>O</a:t>
            </a:r>
            <a:r>
              <a:rPr sz="1050" spc="-5" dirty="0">
                <a:latin typeface="Times New Roman"/>
                <a:cs typeface="Times New Roman"/>
              </a:rPr>
              <a:t>(</a:t>
            </a:r>
            <a:r>
              <a:rPr sz="1050" spc="-145" dirty="0">
                <a:latin typeface="Times New Roman"/>
                <a:cs typeface="Times New Roman"/>
              </a:rPr>
              <a:t> </a:t>
            </a:r>
            <a:r>
              <a:rPr sz="1050" i="1" spc="-5" dirty="0">
                <a:latin typeface="Times New Roman"/>
                <a:cs typeface="Times New Roman"/>
              </a:rPr>
              <a:t>R</a:t>
            </a:r>
            <a:r>
              <a:rPr sz="1050" i="1" spc="-20" dirty="0">
                <a:latin typeface="Times New Roman"/>
                <a:cs typeface="Times New Roman"/>
              </a:rPr>
              <a:t>M</a:t>
            </a:r>
            <a:r>
              <a:rPr sz="1050" i="1" spc="-5" dirty="0">
                <a:latin typeface="Times New Roman"/>
                <a:cs typeface="Times New Roman"/>
              </a:rPr>
              <a:t>S</a:t>
            </a:r>
            <a:r>
              <a:rPr sz="1050" i="1" spc="-105" dirty="0">
                <a:latin typeface="Times New Roman"/>
                <a:cs typeface="Times New Roman"/>
              </a:rPr>
              <a:t> </a:t>
            </a:r>
            <a:r>
              <a:rPr sz="1050" spc="-5" dirty="0"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45671" y="4380990"/>
            <a:ext cx="926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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21</a:t>
            </a:r>
            <a:r>
              <a:rPr sz="1800" dirty="0">
                <a:latin typeface="Times New Roman"/>
                <a:cs typeface="Times New Roman"/>
              </a:rPr>
              <a:t>5</a:t>
            </a:r>
            <a:r>
              <a:rPr sz="1800" spc="-5" dirty="0">
                <a:latin typeface="Times New Roman"/>
                <a:cs typeface="Times New Roman"/>
              </a:rPr>
              <a:t>.3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95348" y="4559427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18888" y="457770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547429" y="3974079"/>
            <a:ext cx="8299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8980" algn="l"/>
              </a:tabLst>
            </a:pPr>
            <a:r>
              <a:rPr sz="1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1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Symbol"/>
                <a:cs typeface="Symbol"/>
              </a:rPr>
              <a:t>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67233" y="3992586"/>
            <a:ext cx="113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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31537" y="4103037"/>
            <a:ext cx="117919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2</a:t>
            </a:r>
            <a:r>
              <a:rPr sz="1800" spc="-2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Symbol"/>
                <a:cs typeface="Symbol"/>
              </a:rPr>
              <a:t></a:t>
            </a:r>
            <a:r>
              <a:rPr sz="1800" spc="-165" dirty="0">
                <a:latin typeface="Times New Roman"/>
                <a:cs typeface="Times New Roman"/>
              </a:rPr>
              <a:t> </a:t>
            </a:r>
            <a:r>
              <a:rPr sz="2850" u="sng" spc="-89" baseline="32163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</a:t>
            </a:r>
            <a:r>
              <a:rPr sz="2850" baseline="32163" dirty="0">
                <a:latin typeface="Times New Roman"/>
                <a:cs typeface="Times New Roman"/>
              </a:rPr>
              <a:t> </a:t>
            </a:r>
            <a:r>
              <a:rPr sz="2850" spc="-292" baseline="32163" dirty="0">
                <a:latin typeface="Times New Roman"/>
                <a:cs typeface="Times New Roman"/>
              </a:rPr>
              <a:t> </a:t>
            </a:r>
            <a:r>
              <a:rPr sz="2700" spc="104" baseline="29320" dirty="0">
                <a:latin typeface="Symbol"/>
                <a:cs typeface="Symbol"/>
              </a:rPr>
              <a:t></a:t>
            </a:r>
            <a:r>
              <a:rPr sz="2700" spc="-7" baseline="33950" dirty="0">
                <a:latin typeface="Symbol"/>
                <a:cs typeface="Symbol"/>
              </a:rPr>
              <a:t></a:t>
            </a:r>
            <a:r>
              <a:rPr sz="2700" spc="-375" baseline="33950" dirty="0">
                <a:latin typeface="Times New Roman"/>
                <a:cs typeface="Times New Roman"/>
              </a:rPr>
              <a:t> </a:t>
            </a:r>
            <a:r>
              <a:rPr sz="1575" spc="-7" baseline="79365" dirty="0">
                <a:latin typeface="Times New Roman"/>
                <a:cs typeface="Times New Roman"/>
              </a:rPr>
              <a:t>2</a:t>
            </a:r>
            <a:endParaRPr sz="1575" baseline="79365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267083" y="4202781"/>
            <a:ext cx="452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-21604" dirty="0">
                <a:latin typeface="Times New Roman"/>
                <a:cs typeface="Times New Roman"/>
              </a:rPr>
              <a:t>3</a:t>
            </a:r>
            <a:r>
              <a:rPr sz="2700" spc="127" baseline="-21604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Symbol"/>
                <a:cs typeface="Symbol"/>
              </a:rPr>
              <a:t></a:t>
            </a:r>
            <a:r>
              <a:rPr sz="2700" spc="52" baseline="3086" dirty="0">
                <a:latin typeface="Symbol"/>
                <a:cs typeface="Symbol"/>
              </a:rPr>
              <a:t></a:t>
            </a:r>
            <a:endParaRPr sz="2700" baseline="3086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79362" y="4223442"/>
            <a:ext cx="247396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-35493" dirty="0">
                <a:latin typeface="Symbol"/>
                <a:cs typeface="Symbol"/>
              </a:rPr>
              <a:t></a:t>
            </a:r>
            <a:r>
              <a:rPr sz="2700" spc="-7" baseline="-35493" dirty="0">
                <a:latin typeface="Times New Roman"/>
                <a:cs typeface="Times New Roman"/>
              </a:rPr>
              <a:t> 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2</a:t>
            </a:r>
            <a:r>
              <a:rPr sz="1800" u="sng" spc="-1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</a:t>
            </a:r>
            <a:r>
              <a:rPr sz="1800" spc="-200" dirty="0">
                <a:latin typeface="Times New Roman"/>
                <a:cs typeface="Times New Roman"/>
              </a:rPr>
              <a:t> 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240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2700" spc="-7" baseline="10802" dirty="0">
                <a:latin typeface="Symbol"/>
                <a:cs typeface="Symbol"/>
              </a:rPr>
              <a:t></a:t>
            </a:r>
            <a:r>
              <a:rPr sz="2700" spc="-179" baseline="10802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1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2700" spc="284" baseline="7716" dirty="0">
                <a:latin typeface="Symbol"/>
                <a:cs typeface="Symbol"/>
              </a:rPr>
              <a:t></a:t>
            </a:r>
            <a:r>
              <a:rPr sz="2700" spc="179" baseline="-4629" dirty="0">
                <a:latin typeface="Symbol"/>
                <a:cs typeface="Symbol"/>
              </a:rPr>
              <a:t></a:t>
            </a:r>
            <a:r>
              <a:rPr sz="2850" spc="-89" baseline="-33625" dirty="0">
                <a:latin typeface="Symbol"/>
                <a:cs typeface="Symbol"/>
              </a:rPr>
              <a:t></a:t>
            </a:r>
            <a:r>
              <a:rPr sz="2850" spc="127" baseline="-33625" dirty="0">
                <a:latin typeface="Times New Roman"/>
                <a:cs typeface="Times New Roman"/>
              </a:rPr>
              <a:t> </a:t>
            </a:r>
            <a:r>
              <a:rPr sz="2700" spc="-7" baseline="-35493" dirty="0">
                <a:latin typeface="Symbol"/>
                <a:cs typeface="Symbol"/>
              </a:rPr>
              <a:t></a:t>
            </a:r>
            <a:r>
              <a:rPr sz="2700" spc="-157" baseline="-35493" dirty="0">
                <a:latin typeface="Times New Roman"/>
                <a:cs typeface="Times New Roman"/>
              </a:rPr>
              <a:t> </a:t>
            </a:r>
            <a:r>
              <a:rPr sz="1900" spc="-60" dirty="0">
                <a:latin typeface="Symbol"/>
                <a:cs typeface="Symbol"/>
              </a:rPr>
              <a:t></a:t>
            </a:r>
            <a:r>
              <a:rPr sz="1900" spc="135" dirty="0">
                <a:latin typeface="Times New Roman"/>
                <a:cs typeface="Times New Roman"/>
              </a:rPr>
              <a:t> </a:t>
            </a:r>
            <a:r>
              <a:rPr sz="2700" spc="-7" baseline="-4629" dirty="0">
                <a:latin typeface="Symbol"/>
                <a:cs typeface="Symbol"/>
              </a:rPr>
              <a:t></a:t>
            </a:r>
            <a:r>
              <a:rPr sz="2700" spc="-232" baseline="-4629" dirty="0">
                <a:latin typeface="Times New Roman"/>
                <a:cs typeface="Times New Roman"/>
              </a:rPr>
              <a:t> </a:t>
            </a:r>
            <a:r>
              <a:rPr sz="2700" spc="-7" baseline="-35493" dirty="0">
                <a:latin typeface="Symbol"/>
                <a:cs typeface="Symbol"/>
              </a:rPr>
              <a:t></a:t>
            </a:r>
            <a:endParaRPr sz="2700" baseline="-35493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482939" y="4420744"/>
            <a:ext cx="210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latin typeface="Symbol"/>
                <a:cs typeface="Symbol"/>
              </a:rPr>
              <a:t></a:t>
            </a:r>
            <a:r>
              <a:rPr sz="2700" spc="-7" baseline="1543" dirty="0">
                <a:latin typeface="Symbol"/>
                <a:cs typeface="Symbol"/>
              </a:rPr>
              <a:t></a:t>
            </a:r>
            <a:endParaRPr sz="2700" baseline="1543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38530" y="4407820"/>
            <a:ext cx="57975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37" baseline="1543" dirty="0">
                <a:latin typeface="Symbol"/>
                <a:cs typeface="Symbol"/>
              </a:rPr>
              <a:t></a:t>
            </a:r>
            <a:r>
              <a:rPr sz="2850" spc="37" baseline="-32163" dirty="0">
                <a:latin typeface="Symbol"/>
                <a:cs typeface="Symbol"/>
              </a:rPr>
              <a:t></a:t>
            </a:r>
            <a:r>
              <a:rPr sz="2850" spc="82" baseline="-32163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Symbol"/>
                <a:cs typeface="Symbol"/>
              </a:rPr>
              <a:t></a:t>
            </a:r>
            <a:r>
              <a:rPr sz="2700" spc="142" baseline="-6172" dirty="0">
                <a:latin typeface="Symbol"/>
                <a:cs typeface="Symbol"/>
              </a:rPr>
              <a:t></a:t>
            </a:r>
            <a:endParaRPr sz="2700" baseline="-6172">
              <a:latin typeface="Symbol"/>
              <a:cs typeface="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154592" y="4443591"/>
            <a:ext cx="335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-27777" dirty="0">
                <a:latin typeface="Times New Roman"/>
                <a:cs typeface="Times New Roman"/>
              </a:rPr>
              <a:t>3</a:t>
            </a:r>
            <a:r>
              <a:rPr sz="2700" spc="-82" baseline="-27777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Symbol"/>
                <a:cs typeface="Symbol"/>
              </a:rPr>
              <a:t>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52129" y="4586844"/>
            <a:ext cx="113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263930" y="4630939"/>
            <a:ext cx="113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Symbol"/>
                <a:cs typeface="Symbol"/>
              </a:rPr>
              <a:t>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482939" y="4640078"/>
            <a:ext cx="210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latin typeface="Symbol"/>
                <a:cs typeface="Symbol"/>
              </a:rPr>
              <a:t></a:t>
            </a:r>
            <a:r>
              <a:rPr sz="2700" spc="-7" baseline="1543" dirty="0">
                <a:latin typeface="Symbol"/>
                <a:cs typeface="Symbol"/>
              </a:rPr>
              <a:t></a:t>
            </a:r>
            <a:endParaRPr sz="2700" baseline="1543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541833" y="4586844"/>
            <a:ext cx="276860" cy="56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05"/>
              </a:lnSpc>
              <a:spcBef>
                <a:spcPts val="100"/>
              </a:spcBef>
            </a:pPr>
            <a:r>
              <a:rPr sz="2700" spc="142" baseline="-12345" dirty="0">
                <a:latin typeface="Symbol"/>
                <a:cs typeface="Symbol"/>
              </a:rPr>
              <a:t></a:t>
            </a:r>
            <a:r>
              <a:rPr sz="1800" spc="95" dirty="0">
                <a:latin typeface="Symbol"/>
                <a:cs typeface="Symbol"/>
              </a:rPr>
              <a:t></a:t>
            </a:r>
            <a:endParaRPr sz="1800">
              <a:latin typeface="Symbol"/>
              <a:cs typeface="Symbol"/>
            </a:endParaRPr>
          </a:p>
          <a:p>
            <a:pPr marL="38100">
              <a:lnSpc>
                <a:spcPts val="2105"/>
              </a:lnSpc>
            </a:pPr>
            <a:r>
              <a:rPr sz="1800" spc="-5" dirty="0">
                <a:latin typeface="Symbol"/>
                <a:cs typeface="Symbol"/>
              </a:rPr>
              <a:t>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238530" y="4827654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350" dirty="0">
                <a:latin typeface="Symbol"/>
                <a:cs typeface="Symbol"/>
              </a:rPr>
              <a:t></a:t>
            </a:r>
            <a:r>
              <a:rPr sz="2700" spc="-525" baseline="-9259" dirty="0">
                <a:latin typeface="Symbol"/>
                <a:cs typeface="Symbol"/>
              </a:rPr>
              <a:t></a:t>
            </a:r>
            <a:endParaRPr sz="2700" baseline="-9259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457539" y="4827654"/>
            <a:ext cx="261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15" baseline="-4629" dirty="0">
                <a:latin typeface="Symbol"/>
                <a:cs typeface="Symbol"/>
              </a:rPr>
              <a:t></a:t>
            </a:r>
            <a:r>
              <a:rPr sz="1800" spc="-210" dirty="0">
                <a:latin typeface="Symbol"/>
                <a:cs typeface="Symbol"/>
              </a:rPr>
              <a:t></a:t>
            </a:r>
            <a:r>
              <a:rPr sz="2700" spc="-315" baseline="-9259" dirty="0">
                <a:latin typeface="Symbol"/>
                <a:cs typeface="Symbol"/>
              </a:rPr>
              <a:t></a:t>
            </a:r>
            <a:endParaRPr sz="2700" baseline="-9259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512930" y="4380990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150679" y="5852540"/>
            <a:ext cx="471170" cy="0"/>
          </a:xfrm>
          <a:custGeom>
            <a:avLst/>
            <a:gdLst/>
            <a:ahLst/>
            <a:cxnLst/>
            <a:rect l="l" t="t" r="r" b="b"/>
            <a:pathLst>
              <a:path w="471170">
                <a:moveTo>
                  <a:pt x="0" y="0"/>
                </a:moveTo>
                <a:lnTo>
                  <a:pt x="471106" y="0"/>
                </a:lnTo>
              </a:path>
            </a:pathLst>
          </a:custGeom>
          <a:ln w="104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887914" y="5852540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>
                <a:moveTo>
                  <a:pt x="0" y="0"/>
                </a:moveTo>
                <a:lnTo>
                  <a:pt x="503681" y="0"/>
                </a:lnTo>
              </a:path>
            </a:pathLst>
          </a:custGeom>
          <a:ln w="104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657820" y="5852540"/>
            <a:ext cx="280670" cy="0"/>
          </a:xfrm>
          <a:custGeom>
            <a:avLst/>
            <a:gdLst/>
            <a:ahLst/>
            <a:cxnLst/>
            <a:rect l="l" t="t" r="r" b="b"/>
            <a:pathLst>
              <a:path w="280670">
                <a:moveTo>
                  <a:pt x="0" y="0"/>
                </a:moveTo>
                <a:lnTo>
                  <a:pt x="280510" y="0"/>
                </a:lnTo>
              </a:path>
            </a:pathLst>
          </a:custGeom>
          <a:ln w="104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204555" y="5852540"/>
            <a:ext cx="582295" cy="0"/>
          </a:xfrm>
          <a:custGeom>
            <a:avLst/>
            <a:gdLst/>
            <a:ahLst/>
            <a:cxnLst/>
            <a:rect l="l" t="t" r="r" b="b"/>
            <a:pathLst>
              <a:path w="582295">
                <a:moveTo>
                  <a:pt x="0" y="0"/>
                </a:moveTo>
                <a:lnTo>
                  <a:pt x="581977" y="0"/>
                </a:lnTo>
              </a:path>
            </a:pathLst>
          </a:custGeom>
          <a:ln w="104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537132" y="5651863"/>
            <a:ext cx="156400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5" dirty="0">
                <a:latin typeface="Times New Roman"/>
                <a:cs typeface="Times New Roman"/>
              </a:rPr>
              <a:t>Power</a:t>
            </a:r>
            <a:r>
              <a:rPr sz="1950" spc="-3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Factor</a:t>
            </a:r>
            <a:r>
              <a:rPr sz="1950" spc="-15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Symbol"/>
                <a:cs typeface="Symbol"/>
              </a:rPr>
              <a:t>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14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sp>
        <p:nvSpPr>
          <p:cNvPr id="58" name="object 58"/>
          <p:cNvSpPr txBox="1"/>
          <p:nvPr/>
        </p:nvSpPr>
        <p:spPr>
          <a:xfrm>
            <a:off x="4966767" y="5651863"/>
            <a:ext cx="168084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950" spc="10" dirty="0">
                <a:latin typeface="Symbol"/>
                <a:cs typeface="Symbol"/>
              </a:rPr>
              <a:t></a:t>
            </a:r>
            <a:r>
              <a:rPr sz="1950" spc="105" dirty="0">
                <a:latin typeface="Times New Roman"/>
                <a:cs typeface="Times New Roman"/>
              </a:rPr>
              <a:t> </a:t>
            </a:r>
            <a:r>
              <a:rPr sz="2925" spc="15" baseline="35612" dirty="0">
                <a:latin typeface="Times New Roman"/>
                <a:cs typeface="Times New Roman"/>
              </a:rPr>
              <a:t>215.3</a:t>
            </a:r>
            <a:r>
              <a:rPr sz="2925" spc="30" baseline="35612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Symbol"/>
                <a:cs typeface="Symbol"/>
              </a:rPr>
              <a:t></a:t>
            </a:r>
            <a:r>
              <a:rPr sz="1950" spc="-9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0.897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055203" y="5434120"/>
            <a:ext cx="2670810" cy="74231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575"/>
              </a:spcBef>
              <a:tabLst>
                <a:tab pos="632460" algn="l"/>
              </a:tabLst>
            </a:pPr>
            <a:r>
              <a:rPr sz="1950" i="1" spc="-330" dirty="0">
                <a:latin typeface="Times New Roman"/>
                <a:cs typeface="Times New Roman"/>
              </a:rPr>
              <a:t>P</a:t>
            </a:r>
            <a:r>
              <a:rPr sz="1725" i="1" baseline="-24154" dirty="0">
                <a:latin typeface="Times New Roman"/>
                <a:cs typeface="Times New Roman"/>
              </a:rPr>
              <a:t>O	</a:t>
            </a:r>
            <a:r>
              <a:rPr sz="2925" spc="15" baseline="-35612" dirty="0">
                <a:latin typeface="Symbol"/>
                <a:cs typeface="Symbol"/>
              </a:rPr>
              <a:t></a:t>
            </a:r>
            <a:r>
              <a:rPr sz="2925" spc="-75" baseline="-35612" dirty="0">
                <a:latin typeface="Times New Roman"/>
                <a:cs typeface="Times New Roman"/>
              </a:rPr>
              <a:t> </a:t>
            </a:r>
            <a:r>
              <a:rPr sz="1950" i="1" spc="-90" dirty="0">
                <a:latin typeface="Times New Roman"/>
                <a:cs typeface="Times New Roman"/>
              </a:rPr>
              <a:t>V</a:t>
            </a:r>
            <a:r>
              <a:rPr sz="1725" i="1" baseline="-24154" dirty="0">
                <a:latin typeface="Times New Roman"/>
                <a:cs typeface="Times New Roman"/>
              </a:rPr>
              <a:t>O</a:t>
            </a:r>
            <a:r>
              <a:rPr sz="1725" i="1" spc="-157" baseline="-24154" dirty="0">
                <a:latin typeface="Times New Roman"/>
                <a:cs typeface="Times New Roman"/>
              </a:rPr>
              <a:t> </a:t>
            </a:r>
            <a:r>
              <a:rPr sz="1950" i="1" spc="75" dirty="0">
                <a:latin typeface="Times New Roman"/>
                <a:cs typeface="Times New Roman"/>
              </a:rPr>
              <a:t>I</a:t>
            </a:r>
            <a:r>
              <a:rPr sz="1725" i="1" baseline="-24154" dirty="0">
                <a:latin typeface="Times New Roman"/>
                <a:cs typeface="Times New Roman"/>
              </a:rPr>
              <a:t>O  </a:t>
            </a:r>
            <a:r>
              <a:rPr sz="1725" i="1" spc="-22" baseline="-24154" dirty="0">
                <a:latin typeface="Times New Roman"/>
                <a:cs typeface="Times New Roman"/>
              </a:rPr>
              <a:t> </a:t>
            </a:r>
            <a:r>
              <a:rPr sz="2925" spc="15" baseline="-35612" dirty="0">
                <a:latin typeface="Symbol"/>
                <a:cs typeface="Symbol"/>
              </a:rPr>
              <a:t></a:t>
            </a:r>
            <a:r>
              <a:rPr sz="2925" spc="-75" baseline="-35612" dirty="0">
                <a:latin typeface="Times New Roman"/>
                <a:cs typeface="Times New Roman"/>
              </a:rPr>
              <a:t> </a:t>
            </a:r>
            <a:r>
              <a:rPr sz="1950" i="1" spc="-90" dirty="0">
                <a:latin typeface="Times New Roman"/>
                <a:cs typeface="Times New Roman"/>
              </a:rPr>
              <a:t>V</a:t>
            </a:r>
            <a:r>
              <a:rPr sz="1725" i="1" baseline="-24154" dirty="0">
                <a:latin typeface="Times New Roman"/>
                <a:cs typeface="Times New Roman"/>
              </a:rPr>
              <a:t>O</a:t>
            </a:r>
            <a:endParaRPr sz="1725" baseline="-24154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480"/>
              </a:spcBef>
              <a:tabLst>
                <a:tab pos="842644" algn="l"/>
                <a:tab pos="1604645" algn="l"/>
                <a:tab pos="2255520" algn="l"/>
              </a:tabLst>
            </a:pPr>
            <a:r>
              <a:rPr sz="1950" i="1" spc="-25" dirty="0">
                <a:latin typeface="Times New Roman"/>
                <a:cs typeface="Times New Roman"/>
              </a:rPr>
              <a:t>V</a:t>
            </a:r>
            <a:r>
              <a:rPr sz="1725" i="1" spc="-37" baseline="-24154" dirty="0">
                <a:latin typeface="Times New Roman"/>
                <a:cs typeface="Times New Roman"/>
              </a:rPr>
              <a:t>S</a:t>
            </a:r>
            <a:r>
              <a:rPr sz="1725" i="1" spc="-22" baseline="-24154" dirty="0">
                <a:latin typeface="Times New Roman"/>
                <a:cs typeface="Times New Roman"/>
              </a:rPr>
              <a:t> </a:t>
            </a:r>
            <a:r>
              <a:rPr sz="1950" i="1" spc="65" dirty="0">
                <a:latin typeface="Times New Roman"/>
                <a:cs typeface="Times New Roman"/>
              </a:rPr>
              <a:t>I</a:t>
            </a:r>
            <a:r>
              <a:rPr sz="1725" i="1" spc="97" baseline="-24154" dirty="0">
                <a:latin typeface="Times New Roman"/>
                <a:cs typeface="Times New Roman"/>
              </a:rPr>
              <a:t>S	</a:t>
            </a:r>
            <a:r>
              <a:rPr sz="1950" i="1" spc="-25" dirty="0">
                <a:latin typeface="Times New Roman"/>
                <a:cs typeface="Times New Roman"/>
              </a:rPr>
              <a:t>V</a:t>
            </a:r>
            <a:r>
              <a:rPr sz="1725" i="1" spc="-37" baseline="-24154" dirty="0">
                <a:latin typeface="Times New Roman"/>
                <a:cs typeface="Times New Roman"/>
              </a:rPr>
              <a:t>S </a:t>
            </a:r>
            <a:r>
              <a:rPr sz="1950" i="1" spc="70" dirty="0">
                <a:latin typeface="Times New Roman"/>
                <a:cs typeface="Times New Roman"/>
              </a:rPr>
              <a:t>I</a:t>
            </a:r>
            <a:r>
              <a:rPr sz="1725" i="1" spc="104" baseline="-24154" dirty="0">
                <a:latin typeface="Times New Roman"/>
                <a:cs typeface="Times New Roman"/>
              </a:rPr>
              <a:t>S	</a:t>
            </a:r>
            <a:r>
              <a:rPr sz="1950" i="1" spc="-25" dirty="0">
                <a:latin typeface="Times New Roman"/>
                <a:cs typeface="Times New Roman"/>
              </a:rPr>
              <a:t>V</a:t>
            </a:r>
            <a:r>
              <a:rPr sz="1725" i="1" spc="-37" baseline="-24154" dirty="0">
                <a:latin typeface="Times New Roman"/>
                <a:cs typeface="Times New Roman"/>
              </a:rPr>
              <a:t>S	</a:t>
            </a:r>
            <a:r>
              <a:rPr sz="1950" spc="10" dirty="0">
                <a:latin typeface="Times New Roman"/>
                <a:cs typeface="Times New Roman"/>
              </a:rPr>
              <a:t>240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26708"/>
            <a:ext cx="9144000" cy="431800"/>
            <a:chOff x="0" y="6426708"/>
            <a:chExt cx="9144000" cy="431800"/>
          </a:xfrm>
        </p:grpSpPr>
        <p:sp>
          <p:nvSpPr>
            <p:cNvPr id="3" name="object 3"/>
            <p:cNvSpPr/>
            <p:nvPr/>
          </p:nvSpPr>
          <p:spPr>
            <a:xfrm>
              <a:off x="0" y="6492240"/>
              <a:ext cx="9144000" cy="365760"/>
            </a:xfrm>
            <a:custGeom>
              <a:avLst/>
              <a:gdLst/>
              <a:ahLst/>
              <a:cxnLst/>
              <a:rect l="l" t="t" r="r" b="b"/>
              <a:pathLst>
                <a:path w="9144000" h="365759">
                  <a:moveTo>
                    <a:pt x="914400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9144000" y="36576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D5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426708"/>
              <a:ext cx="9144000" cy="66040"/>
            </a:xfrm>
            <a:custGeom>
              <a:avLst/>
              <a:gdLst/>
              <a:ahLst/>
              <a:cxnLst/>
              <a:rect l="l" t="t" r="r" b="b"/>
              <a:pathLst>
                <a:path w="9144000" h="66039">
                  <a:moveTo>
                    <a:pt x="9144000" y="0"/>
                  </a:moveTo>
                  <a:lnTo>
                    <a:pt x="0" y="0"/>
                  </a:lnTo>
                  <a:lnTo>
                    <a:pt x="0" y="65531"/>
                  </a:lnTo>
                  <a:lnTo>
                    <a:pt x="9144000" y="6553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4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11783" y="1145540"/>
            <a:ext cx="3978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Times New Roman"/>
                <a:cs typeface="Times New Roman"/>
              </a:rPr>
              <a:t>Average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current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10" dirty="0">
                <a:latin typeface="Times New Roman"/>
                <a:cs typeface="Times New Roman"/>
              </a:rPr>
              <a:t> thyristor,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55747" y="2196370"/>
            <a:ext cx="645795" cy="0"/>
          </a:xfrm>
          <a:custGeom>
            <a:avLst/>
            <a:gdLst/>
            <a:ahLst/>
            <a:cxnLst/>
            <a:rect l="l" t="t" r="r" b="b"/>
            <a:pathLst>
              <a:path w="645794">
                <a:moveTo>
                  <a:pt x="0" y="0"/>
                </a:moveTo>
                <a:lnTo>
                  <a:pt x="645413" y="0"/>
                </a:lnTo>
              </a:path>
            </a:pathLst>
          </a:custGeom>
          <a:ln w="12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809172" y="1786318"/>
            <a:ext cx="360045" cy="321310"/>
            <a:chOff x="4809172" y="1786318"/>
            <a:chExt cx="360045" cy="321310"/>
          </a:xfrm>
        </p:grpSpPr>
        <p:sp>
          <p:nvSpPr>
            <p:cNvPr id="8" name="object 8"/>
            <p:cNvSpPr/>
            <p:nvPr/>
          </p:nvSpPr>
          <p:spPr>
            <a:xfrm>
              <a:off x="4811554" y="1793366"/>
              <a:ext cx="357505" cy="314325"/>
            </a:xfrm>
            <a:custGeom>
              <a:avLst/>
              <a:gdLst/>
              <a:ahLst/>
              <a:cxnLst/>
              <a:rect l="l" t="t" r="r" b="b"/>
              <a:pathLst>
                <a:path w="357504" h="314325">
                  <a:moveTo>
                    <a:pt x="0" y="212122"/>
                  </a:moveTo>
                  <a:lnTo>
                    <a:pt x="30479" y="194881"/>
                  </a:lnTo>
                </a:path>
                <a:path w="357504" h="314325">
                  <a:moveTo>
                    <a:pt x="30479" y="194881"/>
                  </a:moveTo>
                  <a:lnTo>
                    <a:pt x="103154" y="313849"/>
                  </a:lnTo>
                </a:path>
                <a:path w="357504" h="314325">
                  <a:moveTo>
                    <a:pt x="103154" y="313849"/>
                  </a:moveTo>
                  <a:lnTo>
                    <a:pt x="182879" y="0"/>
                  </a:lnTo>
                </a:path>
                <a:path w="357504" h="314325">
                  <a:moveTo>
                    <a:pt x="182879" y="0"/>
                  </a:moveTo>
                  <a:lnTo>
                    <a:pt x="3570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09172" y="1786318"/>
              <a:ext cx="360045" cy="321310"/>
            </a:xfrm>
            <a:custGeom>
              <a:avLst/>
              <a:gdLst/>
              <a:ahLst/>
              <a:cxnLst/>
              <a:rect l="l" t="t" r="r" b="b"/>
              <a:pathLst>
                <a:path w="360045" h="321310">
                  <a:moveTo>
                    <a:pt x="359473" y="0"/>
                  </a:moveTo>
                  <a:lnTo>
                    <a:pt x="179730" y="0"/>
                  </a:lnTo>
                  <a:lnTo>
                    <a:pt x="106299" y="289560"/>
                  </a:lnTo>
                  <a:lnTo>
                    <a:pt x="41440" y="192493"/>
                  </a:lnTo>
                  <a:lnTo>
                    <a:pt x="0" y="215265"/>
                  </a:lnTo>
                  <a:lnTo>
                    <a:pt x="4762" y="223837"/>
                  </a:lnTo>
                  <a:lnTo>
                    <a:pt x="25044" y="211366"/>
                  </a:lnTo>
                  <a:lnTo>
                    <a:pt x="98488" y="320903"/>
                  </a:lnTo>
                  <a:lnTo>
                    <a:pt x="113347" y="320903"/>
                  </a:lnTo>
                  <a:lnTo>
                    <a:pt x="190690" y="14859"/>
                  </a:lnTo>
                  <a:lnTo>
                    <a:pt x="359473" y="14859"/>
                  </a:lnTo>
                  <a:lnTo>
                    <a:pt x="3594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1802764" algn="l"/>
              </a:tabLst>
            </a:pPr>
            <a:r>
              <a:rPr sz="4650" spc="-472" baseline="-2688" dirty="0">
                <a:latin typeface="Symbol"/>
                <a:cs typeface="Symbol"/>
              </a:rPr>
              <a:t></a:t>
            </a:r>
            <a:r>
              <a:rPr sz="2350" spc="190" dirty="0"/>
              <a:t>1</a:t>
            </a:r>
            <a:r>
              <a:rPr sz="2350" spc="5" dirty="0">
                <a:latin typeface="Symbol"/>
                <a:cs typeface="Symbol"/>
              </a:rPr>
              <a:t></a:t>
            </a:r>
            <a:r>
              <a:rPr sz="2350" spc="-195" dirty="0"/>
              <a:t> </a:t>
            </a:r>
            <a:r>
              <a:rPr sz="2350" spc="-20" dirty="0"/>
              <a:t>c</a:t>
            </a:r>
            <a:r>
              <a:rPr sz="2350" spc="10" dirty="0"/>
              <a:t>o</a:t>
            </a:r>
            <a:r>
              <a:rPr sz="2350" spc="145" dirty="0"/>
              <a:t>s</a:t>
            </a:r>
            <a:r>
              <a:rPr sz="2500" spc="-90" dirty="0">
                <a:latin typeface="Symbol"/>
                <a:cs typeface="Symbol"/>
              </a:rPr>
              <a:t></a:t>
            </a:r>
            <a:r>
              <a:rPr sz="2500" spc="-220" dirty="0"/>
              <a:t> </a:t>
            </a:r>
            <a:r>
              <a:rPr sz="4650" spc="-390" baseline="-2688" dirty="0">
                <a:latin typeface="Symbol"/>
                <a:cs typeface="Symbol"/>
              </a:rPr>
              <a:t></a:t>
            </a:r>
            <a:r>
              <a:rPr sz="4650" spc="-397" baseline="-2688" dirty="0"/>
              <a:t> </a:t>
            </a:r>
            <a:r>
              <a:rPr sz="2350" spc="5" dirty="0">
                <a:latin typeface="Symbol"/>
                <a:cs typeface="Symbol"/>
              </a:rPr>
              <a:t></a:t>
            </a:r>
            <a:r>
              <a:rPr sz="2350" dirty="0"/>
              <a:t> </a:t>
            </a:r>
            <a:r>
              <a:rPr sz="3525" u="sng" baseline="35460" dirty="0">
                <a:uFill>
                  <a:solidFill>
                    <a:srgbClr val="000000"/>
                  </a:solidFill>
                </a:uFill>
              </a:rPr>
              <a:t> 	</a:t>
            </a:r>
            <a:r>
              <a:rPr sz="3525" u="sng" spc="7" baseline="35460" dirty="0">
                <a:uFill>
                  <a:solidFill>
                    <a:srgbClr val="000000"/>
                  </a:solidFill>
                </a:uFill>
              </a:rPr>
              <a:t>2</a:t>
            </a:r>
            <a:r>
              <a:rPr sz="3525" u="sng" spc="-262" baseline="3546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525" u="sng" spc="7" baseline="3546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</a:t>
            </a:r>
            <a:r>
              <a:rPr sz="3525" spc="-382" baseline="35460" dirty="0"/>
              <a:t> </a:t>
            </a:r>
            <a:r>
              <a:rPr sz="3525" u="sng" spc="7" baseline="35460" dirty="0">
                <a:uFill>
                  <a:solidFill>
                    <a:srgbClr val="000000"/>
                  </a:solidFill>
                </a:uFill>
              </a:rPr>
              <a:t>2</a:t>
            </a:r>
            <a:r>
              <a:rPr sz="3525" u="sng" spc="-7" baseline="35460" dirty="0">
                <a:uFill>
                  <a:solidFill>
                    <a:srgbClr val="000000"/>
                  </a:solidFill>
                </a:uFill>
              </a:rPr>
              <a:t>4</a:t>
            </a:r>
            <a:r>
              <a:rPr sz="3525" u="sng" spc="7" baseline="35460" dirty="0">
                <a:uFill>
                  <a:solidFill>
                    <a:srgbClr val="000000"/>
                  </a:solidFill>
                </a:uFill>
              </a:rPr>
              <a:t>0</a:t>
            </a:r>
            <a:r>
              <a:rPr sz="3525" spc="-240" baseline="35460" dirty="0"/>
              <a:t> </a:t>
            </a:r>
            <a:r>
              <a:rPr sz="3525" spc="97" baseline="30732" dirty="0">
                <a:latin typeface="Symbol"/>
                <a:cs typeface="Symbol"/>
              </a:rPr>
              <a:t></a:t>
            </a:r>
            <a:r>
              <a:rPr sz="2350" spc="190" dirty="0"/>
              <a:t>1</a:t>
            </a:r>
            <a:r>
              <a:rPr sz="2350" spc="5" dirty="0">
                <a:latin typeface="Symbol"/>
                <a:cs typeface="Symbol"/>
              </a:rPr>
              <a:t></a:t>
            </a:r>
            <a:r>
              <a:rPr sz="2350" spc="-195" dirty="0"/>
              <a:t> </a:t>
            </a:r>
            <a:r>
              <a:rPr sz="2350" spc="-20" dirty="0"/>
              <a:t>c</a:t>
            </a:r>
            <a:r>
              <a:rPr sz="2350" spc="10" dirty="0"/>
              <a:t>o</a:t>
            </a:r>
            <a:r>
              <a:rPr sz="2350" dirty="0"/>
              <a:t>s</a:t>
            </a:r>
            <a:r>
              <a:rPr sz="2350" spc="-215" dirty="0"/>
              <a:t> </a:t>
            </a:r>
            <a:r>
              <a:rPr sz="3750" u="sng" spc="-120" baseline="33333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</a:t>
            </a:r>
            <a:r>
              <a:rPr sz="3750" spc="270" baseline="33333" dirty="0"/>
              <a:t> </a:t>
            </a:r>
            <a:r>
              <a:rPr sz="3525" baseline="30732" dirty="0">
                <a:latin typeface="Symbol"/>
                <a:cs typeface="Symbol"/>
              </a:rPr>
              <a:t></a:t>
            </a:r>
            <a:r>
              <a:rPr sz="3525" spc="-82" baseline="30732" dirty="0"/>
              <a:t> </a:t>
            </a:r>
            <a:r>
              <a:rPr sz="2350" spc="5" dirty="0">
                <a:latin typeface="Symbol"/>
                <a:cs typeface="Symbol"/>
              </a:rPr>
              <a:t></a:t>
            </a:r>
            <a:r>
              <a:rPr sz="2350" spc="-50" dirty="0"/>
              <a:t> </a:t>
            </a:r>
            <a:r>
              <a:rPr sz="2350" spc="10" dirty="0"/>
              <a:t>4</a:t>
            </a:r>
            <a:r>
              <a:rPr sz="2350" spc="5" dirty="0"/>
              <a:t>.05A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89550" y="2160633"/>
            <a:ext cx="53975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i="1" spc="10" dirty="0">
                <a:latin typeface="Times New Roman"/>
                <a:cs typeface="Times New Roman"/>
              </a:rPr>
              <a:t>T</a:t>
            </a:r>
            <a:r>
              <a:rPr sz="1350" i="1" spc="-85" dirty="0">
                <a:latin typeface="Times New Roman"/>
                <a:cs typeface="Times New Roman"/>
              </a:rPr>
              <a:t> </a:t>
            </a:r>
            <a:r>
              <a:rPr sz="1350" spc="110" dirty="0">
                <a:latin typeface="Times New Roman"/>
                <a:cs typeface="Times New Roman"/>
              </a:rPr>
              <a:t>(</a:t>
            </a:r>
            <a:r>
              <a:rPr sz="1350" i="1" spc="15" dirty="0">
                <a:latin typeface="Times New Roman"/>
                <a:cs typeface="Times New Roman"/>
              </a:rPr>
              <a:t>a</a:t>
            </a:r>
            <a:r>
              <a:rPr sz="1350" i="1" spc="-5" dirty="0">
                <a:latin typeface="Times New Roman"/>
                <a:cs typeface="Times New Roman"/>
              </a:rPr>
              <a:t>v</a:t>
            </a:r>
            <a:r>
              <a:rPr sz="1350" i="1" spc="105" dirty="0">
                <a:latin typeface="Times New Roman"/>
                <a:cs typeface="Times New Roman"/>
              </a:rPr>
              <a:t>e</a:t>
            </a:r>
            <a:r>
              <a:rPr sz="1350" spc="5" dirty="0"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82819" y="2039683"/>
            <a:ext cx="142938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1035685" algn="l"/>
              </a:tabLst>
            </a:pPr>
            <a:r>
              <a:rPr sz="2350" dirty="0">
                <a:latin typeface="Symbol"/>
                <a:cs typeface="Symbol"/>
              </a:rPr>
              <a:t>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3525" spc="7" baseline="-28368" dirty="0">
                <a:latin typeface="Times New Roman"/>
                <a:cs typeface="Times New Roman"/>
              </a:rPr>
              <a:t>3</a:t>
            </a:r>
            <a:r>
              <a:rPr sz="3525" spc="-60" baseline="-28368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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3076" y="1959143"/>
            <a:ext cx="91122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33425" algn="l"/>
              </a:tabLst>
            </a:pPr>
            <a:r>
              <a:rPr sz="2350" i="1" dirty="0">
                <a:latin typeface="Times New Roman"/>
                <a:cs typeface="Times New Roman"/>
              </a:rPr>
              <a:t>I	</a:t>
            </a:r>
            <a:r>
              <a:rPr sz="2350" spc="5" dirty="0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08219" y="2228710"/>
            <a:ext cx="14097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dirty="0">
                <a:latin typeface="Symbol"/>
                <a:cs typeface="Symbol"/>
              </a:rPr>
              <a:t>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33536" y="2228710"/>
            <a:ext cx="14097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dirty="0">
                <a:latin typeface="Symbol"/>
                <a:cs typeface="Symbol"/>
              </a:rPr>
              <a:t>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37503" y="1717116"/>
            <a:ext cx="681355" cy="86677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495"/>
              </a:spcBef>
            </a:pPr>
            <a:r>
              <a:rPr sz="2350" i="1" spc="-25" dirty="0">
                <a:latin typeface="Times New Roman"/>
                <a:cs typeface="Times New Roman"/>
              </a:rPr>
              <a:t>V</a:t>
            </a:r>
            <a:r>
              <a:rPr sz="2025" i="1" spc="-37" baseline="-24691" dirty="0">
                <a:latin typeface="Times New Roman"/>
                <a:cs typeface="Times New Roman"/>
              </a:rPr>
              <a:t>m</a:t>
            </a:r>
            <a:endParaRPr sz="2025" baseline="-24691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05"/>
              </a:spcBef>
            </a:pPr>
            <a:r>
              <a:rPr sz="2350" spc="-90" dirty="0">
                <a:latin typeface="Times New Roman"/>
                <a:cs typeface="Times New Roman"/>
              </a:rPr>
              <a:t>2</a:t>
            </a:r>
            <a:r>
              <a:rPr sz="2500" spc="-90" dirty="0">
                <a:latin typeface="Symbol"/>
                <a:cs typeface="Symbol"/>
              </a:rPr>
              <a:t></a:t>
            </a:r>
            <a:r>
              <a:rPr sz="2500" spc="245" dirty="0">
                <a:latin typeface="Times New Roman"/>
                <a:cs typeface="Times New Roman"/>
              </a:rPr>
              <a:t> </a:t>
            </a:r>
            <a:r>
              <a:rPr sz="2350" i="1" spc="5" dirty="0">
                <a:latin typeface="Times New Roman"/>
                <a:cs typeface="Times New Roman"/>
              </a:rPr>
              <a:t>R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16585" y="2176849"/>
            <a:ext cx="63055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-95" dirty="0">
                <a:latin typeface="Times New Roman"/>
                <a:cs typeface="Times New Roman"/>
              </a:rPr>
              <a:t>2</a:t>
            </a:r>
            <a:r>
              <a:rPr sz="2500" spc="-95" dirty="0">
                <a:latin typeface="Symbol"/>
                <a:cs typeface="Symbol"/>
              </a:rPr>
              <a:t></a:t>
            </a:r>
            <a:r>
              <a:rPr sz="2500" spc="245" dirty="0">
                <a:latin typeface="Times New Roman"/>
                <a:cs typeface="Times New Roman"/>
              </a:rPr>
              <a:t> </a:t>
            </a:r>
            <a:r>
              <a:rPr sz="2350" i="1" spc="5" dirty="0">
                <a:latin typeface="Times New Roman"/>
                <a:cs typeface="Times New Roman"/>
              </a:rPr>
              <a:t>R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33377" y="4127088"/>
            <a:ext cx="356870" cy="0"/>
          </a:xfrm>
          <a:custGeom>
            <a:avLst/>
            <a:gdLst/>
            <a:ahLst/>
            <a:cxnLst/>
            <a:rect l="l" t="t" r="r" b="b"/>
            <a:pathLst>
              <a:path w="356869">
                <a:moveTo>
                  <a:pt x="0" y="0"/>
                </a:moveTo>
                <a:lnTo>
                  <a:pt x="356519" y="0"/>
                </a:lnTo>
              </a:path>
            </a:pathLst>
          </a:custGeom>
          <a:ln w="12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02935" y="3787520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>
                <a:moveTo>
                  <a:pt x="0" y="0"/>
                </a:moveTo>
                <a:lnTo>
                  <a:pt x="110108" y="0"/>
                </a:lnTo>
              </a:path>
            </a:pathLst>
          </a:custGeom>
          <a:ln w="64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2659672" y="5118353"/>
            <a:ext cx="378460" cy="321310"/>
            <a:chOff x="2659672" y="5118353"/>
            <a:chExt cx="378460" cy="321310"/>
          </a:xfrm>
        </p:grpSpPr>
        <p:sp>
          <p:nvSpPr>
            <p:cNvPr id="21" name="object 21"/>
            <p:cNvSpPr/>
            <p:nvPr/>
          </p:nvSpPr>
          <p:spPr>
            <a:xfrm>
              <a:off x="2662046" y="5125402"/>
              <a:ext cx="375920" cy="313690"/>
            </a:xfrm>
            <a:custGeom>
              <a:avLst/>
              <a:gdLst/>
              <a:ahLst/>
              <a:cxnLst/>
              <a:rect l="l" t="t" r="r" b="b"/>
              <a:pathLst>
                <a:path w="375919" h="313689">
                  <a:moveTo>
                    <a:pt x="0" y="212026"/>
                  </a:moveTo>
                  <a:lnTo>
                    <a:pt x="32100" y="194787"/>
                  </a:lnTo>
                </a:path>
                <a:path w="375919" h="313689">
                  <a:moveTo>
                    <a:pt x="32100" y="194787"/>
                  </a:moveTo>
                  <a:lnTo>
                    <a:pt x="108490" y="313659"/>
                  </a:lnTo>
                </a:path>
                <a:path w="375919" h="313689">
                  <a:moveTo>
                    <a:pt x="108490" y="313659"/>
                  </a:moveTo>
                  <a:lnTo>
                    <a:pt x="192310" y="0"/>
                  </a:lnTo>
                </a:path>
                <a:path w="375919" h="313689">
                  <a:moveTo>
                    <a:pt x="192310" y="0"/>
                  </a:moveTo>
                  <a:lnTo>
                    <a:pt x="3754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659672" y="5118353"/>
              <a:ext cx="378460" cy="321310"/>
            </a:xfrm>
            <a:custGeom>
              <a:avLst/>
              <a:gdLst/>
              <a:ahLst/>
              <a:cxnLst/>
              <a:rect l="l" t="t" r="r" b="b"/>
              <a:pathLst>
                <a:path w="378460" h="321310">
                  <a:moveTo>
                    <a:pt x="377850" y="0"/>
                  </a:moveTo>
                  <a:lnTo>
                    <a:pt x="188874" y="0"/>
                  </a:lnTo>
                  <a:lnTo>
                    <a:pt x="111632" y="289458"/>
                  </a:lnTo>
                  <a:lnTo>
                    <a:pt x="43522" y="192405"/>
                  </a:lnTo>
                  <a:lnTo>
                    <a:pt x="0" y="215163"/>
                  </a:lnTo>
                  <a:lnTo>
                    <a:pt x="4851" y="223735"/>
                  </a:lnTo>
                  <a:lnTo>
                    <a:pt x="26288" y="211162"/>
                  </a:lnTo>
                  <a:lnTo>
                    <a:pt x="103441" y="320700"/>
                  </a:lnTo>
                  <a:lnTo>
                    <a:pt x="119062" y="320700"/>
                  </a:lnTo>
                  <a:lnTo>
                    <a:pt x="200393" y="14859"/>
                  </a:lnTo>
                  <a:lnTo>
                    <a:pt x="377850" y="14859"/>
                  </a:lnTo>
                  <a:lnTo>
                    <a:pt x="377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2633377" y="5528309"/>
            <a:ext cx="1150620" cy="0"/>
          </a:xfrm>
          <a:custGeom>
            <a:avLst/>
            <a:gdLst/>
            <a:ahLst/>
            <a:cxnLst/>
            <a:rect l="l" t="t" r="r" b="b"/>
            <a:pathLst>
              <a:path w="1150620">
                <a:moveTo>
                  <a:pt x="0" y="0"/>
                </a:moveTo>
                <a:lnTo>
                  <a:pt x="1150048" y="0"/>
                </a:lnTo>
              </a:path>
            </a:pathLst>
          </a:custGeom>
          <a:ln w="12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982211" y="5528309"/>
            <a:ext cx="765810" cy="0"/>
          </a:xfrm>
          <a:custGeom>
            <a:avLst/>
            <a:gdLst/>
            <a:ahLst/>
            <a:cxnLst/>
            <a:rect l="l" t="t" r="r" b="b"/>
            <a:pathLst>
              <a:path w="765810">
                <a:moveTo>
                  <a:pt x="0" y="0"/>
                </a:moveTo>
                <a:lnTo>
                  <a:pt x="765619" y="0"/>
                </a:lnTo>
              </a:path>
            </a:pathLst>
          </a:custGeom>
          <a:ln w="12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48440" y="5528309"/>
            <a:ext cx="1106170" cy="0"/>
          </a:xfrm>
          <a:custGeom>
            <a:avLst/>
            <a:gdLst/>
            <a:ahLst/>
            <a:cxnLst/>
            <a:rect l="l" t="t" r="r" b="b"/>
            <a:pathLst>
              <a:path w="1106170">
                <a:moveTo>
                  <a:pt x="0" y="0"/>
                </a:moveTo>
                <a:lnTo>
                  <a:pt x="1105757" y="0"/>
                </a:lnTo>
              </a:path>
            </a:pathLst>
          </a:custGeom>
          <a:ln w="12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23457" y="4846034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>
                <a:moveTo>
                  <a:pt x="0" y="0"/>
                </a:moveTo>
                <a:lnTo>
                  <a:pt x="110014" y="0"/>
                </a:lnTo>
              </a:path>
            </a:pathLst>
          </a:custGeom>
          <a:ln w="64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199540" y="3533651"/>
            <a:ext cx="11303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1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97271" y="4091463"/>
            <a:ext cx="58864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i="1" spc="10" dirty="0">
                <a:latin typeface="Times New Roman"/>
                <a:cs typeface="Times New Roman"/>
              </a:rPr>
              <a:t>T</a:t>
            </a:r>
            <a:r>
              <a:rPr sz="1350" i="1" spc="-25" dirty="0">
                <a:latin typeface="Times New Roman"/>
                <a:cs typeface="Times New Roman"/>
              </a:rPr>
              <a:t> </a:t>
            </a:r>
            <a:r>
              <a:rPr sz="1350" spc="5" dirty="0">
                <a:latin typeface="Times New Roman"/>
                <a:cs typeface="Times New Roman"/>
              </a:rPr>
              <a:t>(</a:t>
            </a:r>
            <a:r>
              <a:rPr sz="1350" spc="-200" dirty="0">
                <a:latin typeface="Times New Roman"/>
                <a:cs typeface="Times New Roman"/>
              </a:rPr>
              <a:t> </a:t>
            </a:r>
            <a:r>
              <a:rPr sz="1350" i="1" spc="35" dirty="0">
                <a:latin typeface="Times New Roman"/>
                <a:cs typeface="Times New Roman"/>
              </a:rPr>
              <a:t>r</a:t>
            </a:r>
            <a:r>
              <a:rPr sz="1350" i="1" spc="50" dirty="0">
                <a:latin typeface="Times New Roman"/>
                <a:cs typeface="Times New Roman"/>
              </a:rPr>
              <a:t>m</a:t>
            </a:r>
            <a:r>
              <a:rPr sz="1350" i="1" spc="10" dirty="0">
                <a:latin typeface="Times New Roman"/>
                <a:cs typeface="Times New Roman"/>
              </a:rPr>
              <a:t>s</a:t>
            </a:r>
            <a:r>
              <a:rPr sz="1350" i="1" spc="-180" dirty="0">
                <a:latin typeface="Times New Roman"/>
                <a:cs typeface="Times New Roman"/>
              </a:rPr>
              <a:t> </a:t>
            </a:r>
            <a:r>
              <a:rPr sz="1350" spc="5" dirty="0"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19595" y="4592846"/>
            <a:ext cx="11303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1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59947" y="4106210"/>
            <a:ext cx="3333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-55" dirty="0">
                <a:latin typeface="Times New Roman"/>
                <a:cs typeface="Times New Roman"/>
              </a:rPr>
              <a:t>4</a:t>
            </a:r>
            <a:r>
              <a:rPr sz="2500" spc="-80" dirty="0">
                <a:latin typeface="Symbol"/>
                <a:cs typeface="Symbol"/>
              </a:rPr>
              <a:t>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34425" y="5290634"/>
            <a:ext cx="108013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5" dirty="0">
                <a:latin typeface="Symbol"/>
                <a:cs typeface="Symbol"/>
              </a:rPr>
              <a:t>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spc="65" dirty="0">
                <a:latin typeface="Times New Roman"/>
                <a:cs typeface="Times New Roman"/>
              </a:rPr>
              <a:t>7</a:t>
            </a:r>
            <a:r>
              <a:rPr sz="2350" spc="30" dirty="0">
                <a:latin typeface="Times New Roman"/>
                <a:cs typeface="Times New Roman"/>
              </a:rPr>
              <a:t>.</a:t>
            </a:r>
            <a:r>
              <a:rPr sz="2350" spc="55" dirty="0">
                <a:latin typeface="Times New Roman"/>
                <a:cs typeface="Times New Roman"/>
              </a:rPr>
              <a:t>6</a:t>
            </a:r>
            <a:r>
              <a:rPr sz="2350" dirty="0">
                <a:latin typeface="Times New Roman"/>
                <a:cs typeface="Times New Roman"/>
              </a:rPr>
              <a:t>1</a:t>
            </a:r>
            <a:r>
              <a:rPr sz="2350" spc="-175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Times New Roman"/>
                <a:cs typeface="Times New Roman"/>
              </a:rPr>
              <a:t>A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42937" y="5525261"/>
            <a:ext cx="33401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65" dirty="0">
                <a:latin typeface="Times New Roman"/>
                <a:cs typeface="Times New Roman"/>
              </a:rPr>
              <a:t>2</a:t>
            </a:r>
            <a:r>
              <a:rPr sz="2350" dirty="0">
                <a:latin typeface="Times New Roman"/>
                <a:cs typeface="Times New Roman"/>
              </a:rPr>
              <a:t>0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75261" y="5508263"/>
            <a:ext cx="3333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-55" dirty="0">
                <a:latin typeface="Times New Roman"/>
                <a:cs typeface="Times New Roman"/>
              </a:rPr>
              <a:t>4</a:t>
            </a:r>
            <a:r>
              <a:rPr sz="2500" spc="-80" dirty="0">
                <a:latin typeface="Symbol"/>
                <a:cs typeface="Symbol"/>
              </a:rPr>
              <a:t>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791070" y="4106210"/>
            <a:ext cx="2682875" cy="1226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9605">
              <a:lnSpc>
                <a:spcPct val="100000"/>
              </a:lnSpc>
              <a:spcBef>
                <a:spcPts val="100"/>
              </a:spcBef>
            </a:pPr>
            <a:r>
              <a:rPr sz="2350" spc="-90" dirty="0">
                <a:latin typeface="Times New Roman"/>
                <a:cs typeface="Times New Roman"/>
              </a:rPr>
              <a:t>8</a:t>
            </a:r>
            <a:r>
              <a:rPr sz="2500" spc="-90" dirty="0">
                <a:latin typeface="Symbol"/>
                <a:cs typeface="Symbol"/>
              </a:rPr>
              <a:t></a:t>
            </a:r>
            <a:endParaRPr sz="25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>
              <a:latin typeface="Symbol"/>
              <a:cs typeface="Symbol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  <a:tabLst>
                <a:tab pos="1268095" algn="l"/>
              </a:tabLst>
            </a:pPr>
            <a:r>
              <a:rPr sz="3525" baseline="30732" dirty="0">
                <a:latin typeface="Symbol"/>
                <a:cs typeface="Symbol"/>
              </a:rPr>
              <a:t></a:t>
            </a:r>
            <a:r>
              <a:rPr sz="3525" spc="-569" baseline="30732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Symbol"/>
                <a:cs typeface="Symbol"/>
              </a:rPr>
              <a:t></a:t>
            </a:r>
            <a:r>
              <a:rPr sz="2500" spc="215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Symbol"/>
                <a:cs typeface="Symbol"/>
              </a:rPr>
              <a:t>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3750" u="sng" spc="-120" baseline="32222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</a:t>
            </a:r>
            <a:r>
              <a:rPr sz="3750" baseline="32222" dirty="0">
                <a:latin typeface="Times New Roman"/>
                <a:cs typeface="Times New Roman"/>
              </a:rPr>
              <a:t>	</a:t>
            </a:r>
            <a:r>
              <a:rPr sz="2350" spc="50" dirty="0">
                <a:latin typeface="Times New Roman"/>
                <a:cs typeface="Times New Roman"/>
              </a:rPr>
              <a:t>s</a:t>
            </a:r>
            <a:r>
              <a:rPr sz="2350" spc="40" dirty="0">
                <a:latin typeface="Times New Roman"/>
                <a:cs typeface="Times New Roman"/>
              </a:rPr>
              <a:t>i</a:t>
            </a:r>
            <a:r>
              <a:rPr sz="2350" dirty="0">
                <a:latin typeface="Times New Roman"/>
                <a:cs typeface="Times New Roman"/>
              </a:rPr>
              <a:t>n</a:t>
            </a:r>
            <a:r>
              <a:rPr sz="2350" spc="-1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2</a:t>
            </a:r>
            <a:r>
              <a:rPr sz="2350" spc="-290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Symbol"/>
                <a:cs typeface="Symbol"/>
              </a:rPr>
              <a:t></a:t>
            </a:r>
            <a:r>
              <a:rPr sz="2350" spc="-120" dirty="0">
                <a:latin typeface="Times New Roman"/>
                <a:cs typeface="Times New Roman"/>
              </a:rPr>
              <a:t> </a:t>
            </a:r>
            <a:r>
              <a:rPr sz="3750" u="sng" spc="-120" baseline="32222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</a:t>
            </a:r>
            <a:r>
              <a:rPr sz="3750" baseline="32222" dirty="0">
                <a:latin typeface="Times New Roman"/>
                <a:cs typeface="Times New Roman"/>
              </a:rPr>
              <a:t> </a:t>
            </a:r>
            <a:r>
              <a:rPr sz="3750" spc="-457" baseline="32222" dirty="0">
                <a:latin typeface="Times New Roman"/>
                <a:cs typeface="Times New Roman"/>
              </a:rPr>
              <a:t> </a:t>
            </a:r>
            <a:r>
              <a:rPr sz="3525" baseline="30732" dirty="0">
                <a:latin typeface="Symbol"/>
                <a:cs typeface="Symbol"/>
              </a:rPr>
              <a:t></a:t>
            </a:r>
            <a:r>
              <a:rPr sz="3525" spc="-405" baseline="30732" dirty="0">
                <a:latin typeface="Times New Roman"/>
                <a:cs typeface="Times New Roman"/>
              </a:rPr>
              <a:t> </a:t>
            </a:r>
            <a:r>
              <a:rPr sz="2025" spc="15" baseline="74074" dirty="0">
                <a:latin typeface="Times New Roman"/>
                <a:cs typeface="Times New Roman"/>
              </a:rPr>
              <a:t>2</a:t>
            </a:r>
            <a:endParaRPr sz="2025" baseline="74074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97738" y="5068023"/>
            <a:ext cx="435609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525" baseline="-20094" dirty="0">
                <a:latin typeface="Times New Roman"/>
                <a:cs typeface="Times New Roman"/>
              </a:rPr>
              <a:t>3</a:t>
            </a:r>
            <a:r>
              <a:rPr sz="3525" spc="127" baseline="-20094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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29968" y="5101671"/>
            <a:ext cx="116522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350" dirty="0">
                <a:latin typeface="Times New Roman"/>
                <a:cs typeface="Times New Roman"/>
              </a:rPr>
              <a:t>2</a:t>
            </a:r>
            <a:r>
              <a:rPr sz="2350" spc="-90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Symbol"/>
                <a:cs typeface="Symbol"/>
              </a:rPr>
              <a:t></a:t>
            </a:r>
            <a:r>
              <a:rPr sz="2350" spc="-170" dirty="0">
                <a:latin typeface="Times New Roman"/>
                <a:cs typeface="Times New Roman"/>
              </a:rPr>
              <a:t> </a:t>
            </a:r>
            <a:r>
              <a:rPr sz="2350" spc="55" dirty="0">
                <a:latin typeface="Times New Roman"/>
                <a:cs typeface="Times New Roman"/>
              </a:rPr>
              <a:t>2</a:t>
            </a:r>
            <a:r>
              <a:rPr sz="2350" spc="65" dirty="0">
                <a:latin typeface="Times New Roman"/>
                <a:cs typeface="Times New Roman"/>
              </a:rPr>
              <a:t>4</a:t>
            </a:r>
            <a:r>
              <a:rPr sz="2350" dirty="0">
                <a:latin typeface="Times New Roman"/>
                <a:cs typeface="Times New Roman"/>
              </a:rPr>
              <a:t>0</a:t>
            </a:r>
            <a:r>
              <a:rPr sz="2350" spc="20" dirty="0">
                <a:latin typeface="Times New Roman"/>
                <a:cs typeface="Times New Roman"/>
              </a:rPr>
              <a:t> </a:t>
            </a:r>
            <a:r>
              <a:rPr sz="3525" baseline="5910" dirty="0">
                <a:latin typeface="Symbol"/>
                <a:cs typeface="Symbol"/>
              </a:rPr>
              <a:t></a:t>
            </a:r>
            <a:endParaRPr sz="3525" baseline="591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92621" y="5173170"/>
            <a:ext cx="521334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318135" algn="l"/>
              </a:tabLst>
            </a:pPr>
            <a:r>
              <a:rPr sz="2350" dirty="0">
                <a:latin typeface="Times New Roman"/>
                <a:cs typeface="Times New Roman"/>
              </a:rPr>
              <a:t>3	</a:t>
            </a:r>
            <a:r>
              <a:rPr sz="3525" spc="7" baseline="-21276" dirty="0">
                <a:latin typeface="Symbol"/>
                <a:cs typeface="Symbol"/>
              </a:rPr>
              <a:t></a:t>
            </a:r>
            <a:endParaRPr sz="3525" baseline="-21276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406643" y="5508263"/>
            <a:ext cx="32702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-105" dirty="0">
                <a:latin typeface="Times New Roman"/>
                <a:cs typeface="Times New Roman"/>
              </a:rPr>
              <a:t>8</a:t>
            </a:r>
            <a:r>
              <a:rPr sz="2500" spc="-80" dirty="0">
                <a:latin typeface="Symbol"/>
                <a:cs typeface="Symbol"/>
              </a:rPr>
              <a:t>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69367" y="5290634"/>
            <a:ext cx="18986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spc="5" dirty="0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829170" y="5356125"/>
            <a:ext cx="140970" cy="9334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545"/>
              </a:lnSpc>
              <a:spcBef>
                <a:spcPts val="114"/>
              </a:spcBef>
            </a:pPr>
            <a:r>
              <a:rPr sz="2350" dirty="0">
                <a:latin typeface="Symbol"/>
                <a:cs typeface="Symbol"/>
              </a:rPr>
              <a:t></a:t>
            </a:r>
            <a:endParaRPr sz="2350">
              <a:latin typeface="Symbol"/>
              <a:cs typeface="Symbol"/>
            </a:endParaRPr>
          </a:p>
          <a:p>
            <a:pPr marL="12700">
              <a:lnSpc>
                <a:spcPts val="2155"/>
              </a:lnSpc>
            </a:pPr>
            <a:r>
              <a:rPr sz="2350" dirty="0">
                <a:latin typeface="Symbol"/>
                <a:cs typeface="Symbol"/>
              </a:rPr>
              <a:t></a:t>
            </a:r>
            <a:endParaRPr sz="2350">
              <a:latin typeface="Symbol"/>
              <a:cs typeface="Symbol"/>
            </a:endParaRPr>
          </a:p>
          <a:p>
            <a:pPr marL="12700">
              <a:lnSpc>
                <a:spcPts val="2430"/>
              </a:lnSpc>
            </a:pPr>
            <a:r>
              <a:rPr sz="2350" dirty="0">
                <a:latin typeface="Symbol"/>
                <a:cs typeface="Symbol"/>
              </a:rPr>
              <a:t>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166967" y="5356125"/>
            <a:ext cx="140970" cy="9334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545"/>
              </a:lnSpc>
              <a:spcBef>
                <a:spcPts val="114"/>
              </a:spcBef>
            </a:pPr>
            <a:r>
              <a:rPr sz="2350" dirty="0">
                <a:latin typeface="Symbol"/>
                <a:cs typeface="Symbol"/>
              </a:rPr>
              <a:t></a:t>
            </a:r>
            <a:endParaRPr sz="2350">
              <a:latin typeface="Symbol"/>
              <a:cs typeface="Symbol"/>
            </a:endParaRPr>
          </a:p>
          <a:p>
            <a:pPr marL="12700">
              <a:lnSpc>
                <a:spcPts val="2155"/>
              </a:lnSpc>
            </a:pPr>
            <a:r>
              <a:rPr sz="2350" dirty="0">
                <a:latin typeface="Symbol"/>
                <a:cs typeface="Symbol"/>
              </a:rPr>
              <a:t></a:t>
            </a:r>
            <a:endParaRPr sz="2350">
              <a:latin typeface="Symbol"/>
              <a:cs typeface="Symbol"/>
            </a:endParaRPr>
          </a:p>
          <a:p>
            <a:pPr marL="12700">
              <a:lnSpc>
                <a:spcPts val="2430"/>
              </a:lnSpc>
            </a:pPr>
            <a:r>
              <a:rPr sz="2350" dirty="0">
                <a:latin typeface="Symbol"/>
                <a:cs typeface="Symbol"/>
              </a:rPr>
              <a:t>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343967" y="3682620"/>
            <a:ext cx="29972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525" spc="7" baseline="-35460" dirty="0">
                <a:latin typeface="Symbol"/>
                <a:cs typeface="Symbol"/>
              </a:rPr>
              <a:t></a:t>
            </a:r>
            <a:r>
              <a:rPr sz="3525" spc="52" baseline="-35460" dirty="0">
                <a:latin typeface="Times New Roman"/>
                <a:cs typeface="Times New Roman"/>
              </a:rPr>
              <a:t> </a:t>
            </a:r>
            <a:r>
              <a:rPr sz="2350" i="1" spc="-10" dirty="0">
                <a:latin typeface="Times New Roman"/>
                <a:cs typeface="Times New Roman"/>
              </a:rPr>
              <a:t>V</a:t>
            </a:r>
            <a:r>
              <a:rPr sz="2025" i="1" spc="22" baseline="-24691" dirty="0">
                <a:latin typeface="Times New Roman"/>
                <a:cs typeface="Times New Roman"/>
              </a:rPr>
              <a:t>m</a:t>
            </a:r>
            <a:r>
              <a:rPr sz="2025" i="1" baseline="-24691" dirty="0">
                <a:latin typeface="Times New Roman"/>
                <a:cs typeface="Times New Roman"/>
              </a:rPr>
              <a:t>  </a:t>
            </a:r>
            <a:r>
              <a:rPr sz="2025" i="1" spc="-150" baseline="-24691" dirty="0">
                <a:latin typeface="Times New Roman"/>
                <a:cs typeface="Times New Roman"/>
              </a:rPr>
              <a:t> </a:t>
            </a:r>
            <a:r>
              <a:rPr sz="3525" spc="292" baseline="-4728" dirty="0">
                <a:latin typeface="Symbol"/>
                <a:cs typeface="Symbol"/>
              </a:rPr>
              <a:t></a:t>
            </a:r>
            <a:r>
              <a:rPr sz="2500" u="heavy" spc="-8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</a:t>
            </a:r>
            <a:r>
              <a:rPr sz="2500" u="heavy" spc="2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50" u="heavy" spc="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sz="2350" spc="-290" dirty="0">
                <a:latin typeface="Times New Roman"/>
                <a:cs typeface="Times New Roman"/>
              </a:rPr>
              <a:t> </a:t>
            </a:r>
            <a:r>
              <a:rPr sz="2500" u="heavy" spc="-9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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280" dirty="0">
                <a:latin typeface="Times New Roman"/>
                <a:cs typeface="Times New Roman"/>
              </a:rPr>
              <a:t> </a:t>
            </a:r>
            <a:r>
              <a:rPr sz="3525" spc="7" baseline="-35460" dirty="0">
                <a:latin typeface="Symbol"/>
                <a:cs typeface="Symbol"/>
              </a:rPr>
              <a:t></a:t>
            </a:r>
            <a:r>
              <a:rPr sz="3525" spc="89" baseline="-35460" dirty="0">
                <a:latin typeface="Times New Roman"/>
                <a:cs typeface="Times New Roman"/>
              </a:rPr>
              <a:t> </a:t>
            </a:r>
            <a:r>
              <a:rPr sz="2350" u="heavy" spc="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</a:t>
            </a:r>
            <a:r>
              <a:rPr sz="235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350" u="heavy" spc="-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50" u="heavy" spc="-1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500" u="heavy" spc="-9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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3525" baseline="-4728" dirty="0">
                <a:latin typeface="Symbol"/>
                <a:cs typeface="Symbol"/>
              </a:rPr>
              <a:t></a:t>
            </a:r>
            <a:r>
              <a:rPr sz="3525" spc="-405" baseline="-4728" dirty="0">
                <a:latin typeface="Times New Roman"/>
                <a:cs typeface="Times New Roman"/>
              </a:rPr>
              <a:t> </a:t>
            </a:r>
            <a:r>
              <a:rPr sz="2025" spc="15" baseline="14403" dirty="0">
                <a:latin typeface="Times New Roman"/>
                <a:cs typeface="Times New Roman"/>
              </a:rPr>
              <a:t>2</a:t>
            </a:r>
            <a:endParaRPr sz="2025" baseline="14403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669550" y="4009048"/>
            <a:ext cx="255651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379730" algn="l"/>
                <a:tab pos="2390140" algn="l"/>
              </a:tabLst>
            </a:pPr>
            <a:r>
              <a:rPr sz="3525" i="1" spc="7" baseline="-21276" dirty="0">
                <a:latin typeface="Times New Roman"/>
                <a:cs typeface="Times New Roman"/>
              </a:rPr>
              <a:t>R	</a:t>
            </a:r>
            <a:r>
              <a:rPr sz="2350" spc="-455" dirty="0">
                <a:latin typeface="Symbol"/>
                <a:cs typeface="Symbol"/>
              </a:rPr>
              <a:t></a:t>
            </a:r>
            <a:r>
              <a:rPr sz="3525" spc="-682" baseline="-28368" dirty="0">
                <a:latin typeface="Symbol"/>
                <a:cs typeface="Symbol"/>
              </a:rPr>
              <a:t></a:t>
            </a:r>
            <a:r>
              <a:rPr sz="3525" spc="-682" baseline="-28368" dirty="0">
                <a:latin typeface="Times New Roman"/>
                <a:cs typeface="Times New Roman"/>
              </a:rPr>
              <a:t>	</a:t>
            </a:r>
            <a:r>
              <a:rPr sz="2350" spc="-455" dirty="0">
                <a:latin typeface="Symbol"/>
                <a:cs typeface="Symbol"/>
              </a:rPr>
              <a:t></a:t>
            </a:r>
            <a:r>
              <a:rPr sz="3525" spc="-682" baseline="-28368" dirty="0">
                <a:latin typeface="Symbol"/>
                <a:cs typeface="Symbol"/>
              </a:rPr>
              <a:t></a:t>
            </a:r>
            <a:endParaRPr sz="3525" baseline="-28368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85831" y="3888580"/>
            <a:ext cx="125730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i="1" dirty="0">
                <a:latin typeface="Times New Roman"/>
                <a:cs typeface="Times New Roman"/>
              </a:rPr>
              <a:t>I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11783" y="2956052"/>
            <a:ext cx="3613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RMS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current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thyristor,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830061" y="499871"/>
            <a:ext cx="2696210" cy="629920"/>
            <a:chOff x="5830061" y="499871"/>
            <a:chExt cx="2696210" cy="629920"/>
          </a:xfrm>
        </p:grpSpPr>
        <p:sp>
          <p:nvSpPr>
            <p:cNvPr id="47" name="object 47"/>
            <p:cNvSpPr/>
            <p:nvPr/>
          </p:nvSpPr>
          <p:spPr>
            <a:xfrm>
              <a:off x="5830062" y="499871"/>
              <a:ext cx="13970" cy="629920"/>
            </a:xfrm>
            <a:custGeom>
              <a:avLst/>
              <a:gdLst/>
              <a:ahLst/>
              <a:cxnLst/>
              <a:rect l="l" t="t" r="r" b="b"/>
              <a:pathLst>
                <a:path w="13970" h="629919">
                  <a:moveTo>
                    <a:pt x="0" y="0"/>
                  </a:moveTo>
                  <a:lnTo>
                    <a:pt x="13716" y="0"/>
                  </a:lnTo>
                  <a:lnTo>
                    <a:pt x="13716" y="629411"/>
                  </a:lnTo>
                  <a:lnTo>
                    <a:pt x="0" y="6294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024372" y="499871"/>
              <a:ext cx="2251075" cy="629920"/>
            </a:xfrm>
            <a:custGeom>
              <a:avLst/>
              <a:gdLst/>
              <a:ahLst/>
              <a:cxnLst/>
              <a:rect l="l" t="t" r="r" b="b"/>
              <a:pathLst>
                <a:path w="2251075" h="629919">
                  <a:moveTo>
                    <a:pt x="4572" y="579120"/>
                  </a:moveTo>
                  <a:lnTo>
                    <a:pt x="0" y="579120"/>
                  </a:lnTo>
                  <a:lnTo>
                    <a:pt x="0" y="615696"/>
                  </a:lnTo>
                  <a:lnTo>
                    <a:pt x="3048" y="615696"/>
                  </a:lnTo>
                  <a:lnTo>
                    <a:pt x="4572" y="614172"/>
                  </a:lnTo>
                  <a:lnTo>
                    <a:pt x="4572" y="579120"/>
                  </a:lnTo>
                  <a:close/>
                </a:path>
                <a:path w="2251075" h="629919">
                  <a:moveTo>
                    <a:pt x="4572" y="524256"/>
                  </a:moveTo>
                  <a:lnTo>
                    <a:pt x="3048" y="522732"/>
                  </a:lnTo>
                  <a:lnTo>
                    <a:pt x="0" y="522732"/>
                  </a:lnTo>
                  <a:lnTo>
                    <a:pt x="0" y="560832"/>
                  </a:lnTo>
                  <a:lnTo>
                    <a:pt x="3048" y="560832"/>
                  </a:lnTo>
                  <a:lnTo>
                    <a:pt x="4572" y="559308"/>
                  </a:lnTo>
                  <a:lnTo>
                    <a:pt x="4572" y="524256"/>
                  </a:lnTo>
                  <a:close/>
                </a:path>
                <a:path w="2251075" h="629919">
                  <a:moveTo>
                    <a:pt x="4572" y="469392"/>
                  </a:moveTo>
                  <a:lnTo>
                    <a:pt x="3048" y="467868"/>
                  </a:lnTo>
                  <a:lnTo>
                    <a:pt x="0" y="467868"/>
                  </a:lnTo>
                  <a:lnTo>
                    <a:pt x="0" y="504444"/>
                  </a:lnTo>
                  <a:lnTo>
                    <a:pt x="4572" y="504444"/>
                  </a:lnTo>
                  <a:lnTo>
                    <a:pt x="4572" y="469392"/>
                  </a:lnTo>
                  <a:close/>
                </a:path>
                <a:path w="2251075" h="629919">
                  <a:moveTo>
                    <a:pt x="4572" y="413004"/>
                  </a:moveTo>
                  <a:lnTo>
                    <a:pt x="0" y="413004"/>
                  </a:lnTo>
                  <a:lnTo>
                    <a:pt x="0" y="449580"/>
                  </a:lnTo>
                  <a:lnTo>
                    <a:pt x="3048" y="449580"/>
                  </a:lnTo>
                  <a:lnTo>
                    <a:pt x="4572" y="448056"/>
                  </a:lnTo>
                  <a:lnTo>
                    <a:pt x="4572" y="413004"/>
                  </a:lnTo>
                  <a:close/>
                </a:path>
                <a:path w="2251075" h="629919">
                  <a:moveTo>
                    <a:pt x="4572" y="358140"/>
                  </a:moveTo>
                  <a:lnTo>
                    <a:pt x="3048" y="356616"/>
                  </a:lnTo>
                  <a:lnTo>
                    <a:pt x="0" y="356616"/>
                  </a:lnTo>
                  <a:lnTo>
                    <a:pt x="0" y="393192"/>
                  </a:lnTo>
                  <a:lnTo>
                    <a:pt x="4572" y="393192"/>
                  </a:lnTo>
                  <a:lnTo>
                    <a:pt x="4572" y="358140"/>
                  </a:lnTo>
                  <a:close/>
                </a:path>
                <a:path w="2251075" h="629919">
                  <a:moveTo>
                    <a:pt x="4572" y="301752"/>
                  </a:moveTo>
                  <a:lnTo>
                    <a:pt x="0" y="301752"/>
                  </a:lnTo>
                  <a:lnTo>
                    <a:pt x="0" y="338328"/>
                  </a:lnTo>
                  <a:lnTo>
                    <a:pt x="3048" y="338328"/>
                  </a:lnTo>
                  <a:lnTo>
                    <a:pt x="4572" y="336804"/>
                  </a:lnTo>
                  <a:lnTo>
                    <a:pt x="4572" y="301752"/>
                  </a:lnTo>
                  <a:close/>
                </a:path>
                <a:path w="2251075" h="629919">
                  <a:moveTo>
                    <a:pt x="4572" y="246888"/>
                  </a:moveTo>
                  <a:lnTo>
                    <a:pt x="3048" y="245364"/>
                  </a:lnTo>
                  <a:lnTo>
                    <a:pt x="0" y="245364"/>
                  </a:lnTo>
                  <a:lnTo>
                    <a:pt x="0" y="283464"/>
                  </a:lnTo>
                  <a:lnTo>
                    <a:pt x="3048" y="283464"/>
                  </a:lnTo>
                  <a:lnTo>
                    <a:pt x="4572" y="281940"/>
                  </a:lnTo>
                  <a:lnTo>
                    <a:pt x="4572" y="246888"/>
                  </a:lnTo>
                  <a:close/>
                </a:path>
                <a:path w="2251075" h="629919">
                  <a:moveTo>
                    <a:pt x="4572" y="192024"/>
                  </a:moveTo>
                  <a:lnTo>
                    <a:pt x="3048" y="190500"/>
                  </a:lnTo>
                  <a:lnTo>
                    <a:pt x="0" y="190500"/>
                  </a:lnTo>
                  <a:lnTo>
                    <a:pt x="0" y="227076"/>
                  </a:lnTo>
                  <a:lnTo>
                    <a:pt x="3048" y="227076"/>
                  </a:lnTo>
                  <a:lnTo>
                    <a:pt x="4572" y="225552"/>
                  </a:lnTo>
                  <a:lnTo>
                    <a:pt x="4572" y="192024"/>
                  </a:lnTo>
                  <a:close/>
                </a:path>
                <a:path w="2251075" h="629919">
                  <a:moveTo>
                    <a:pt x="4572" y="135636"/>
                  </a:moveTo>
                  <a:lnTo>
                    <a:pt x="3048" y="134112"/>
                  </a:lnTo>
                  <a:lnTo>
                    <a:pt x="0" y="134112"/>
                  </a:lnTo>
                  <a:lnTo>
                    <a:pt x="0" y="172212"/>
                  </a:lnTo>
                  <a:lnTo>
                    <a:pt x="3048" y="172212"/>
                  </a:lnTo>
                  <a:lnTo>
                    <a:pt x="4572" y="170688"/>
                  </a:lnTo>
                  <a:lnTo>
                    <a:pt x="4572" y="135636"/>
                  </a:lnTo>
                  <a:close/>
                </a:path>
                <a:path w="2251075" h="629919">
                  <a:moveTo>
                    <a:pt x="4572" y="80772"/>
                  </a:moveTo>
                  <a:lnTo>
                    <a:pt x="3048" y="79248"/>
                  </a:lnTo>
                  <a:lnTo>
                    <a:pt x="0" y="79248"/>
                  </a:lnTo>
                  <a:lnTo>
                    <a:pt x="0" y="115824"/>
                  </a:lnTo>
                  <a:lnTo>
                    <a:pt x="4572" y="115824"/>
                  </a:lnTo>
                  <a:lnTo>
                    <a:pt x="4572" y="80772"/>
                  </a:lnTo>
                  <a:close/>
                </a:path>
                <a:path w="2251075" h="629919">
                  <a:moveTo>
                    <a:pt x="4572" y="24384"/>
                  </a:moveTo>
                  <a:lnTo>
                    <a:pt x="0" y="24384"/>
                  </a:lnTo>
                  <a:lnTo>
                    <a:pt x="0" y="60960"/>
                  </a:lnTo>
                  <a:lnTo>
                    <a:pt x="3048" y="60960"/>
                  </a:lnTo>
                  <a:lnTo>
                    <a:pt x="4572" y="59436"/>
                  </a:lnTo>
                  <a:lnTo>
                    <a:pt x="4572" y="24384"/>
                  </a:lnTo>
                  <a:close/>
                </a:path>
                <a:path w="2251075" h="629919">
                  <a:moveTo>
                    <a:pt x="4572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3048" y="6096"/>
                  </a:lnTo>
                  <a:lnTo>
                    <a:pt x="4572" y="4572"/>
                  </a:lnTo>
                  <a:lnTo>
                    <a:pt x="4572" y="0"/>
                  </a:lnTo>
                  <a:close/>
                </a:path>
                <a:path w="2251075" h="629919">
                  <a:moveTo>
                    <a:pt x="626351" y="629412"/>
                  </a:moveTo>
                  <a:lnTo>
                    <a:pt x="624827" y="627888"/>
                  </a:lnTo>
                  <a:lnTo>
                    <a:pt x="623316" y="627888"/>
                  </a:lnTo>
                  <a:lnTo>
                    <a:pt x="621792" y="629412"/>
                  </a:lnTo>
                  <a:lnTo>
                    <a:pt x="626351" y="629412"/>
                  </a:lnTo>
                  <a:close/>
                </a:path>
                <a:path w="2251075" h="629919">
                  <a:moveTo>
                    <a:pt x="626351" y="573024"/>
                  </a:moveTo>
                  <a:lnTo>
                    <a:pt x="624827" y="571500"/>
                  </a:lnTo>
                  <a:lnTo>
                    <a:pt x="623316" y="571500"/>
                  </a:lnTo>
                  <a:lnTo>
                    <a:pt x="621792" y="573024"/>
                  </a:lnTo>
                  <a:lnTo>
                    <a:pt x="621792" y="608076"/>
                  </a:lnTo>
                  <a:lnTo>
                    <a:pt x="623316" y="609600"/>
                  </a:lnTo>
                  <a:lnTo>
                    <a:pt x="624827" y="609600"/>
                  </a:lnTo>
                  <a:lnTo>
                    <a:pt x="626351" y="608076"/>
                  </a:lnTo>
                  <a:lnTo>
                    <a:pt x="626351" y="573024"/>
                  </a:lnTo>
                  <a:close/>
                </a:path>
                <a:path w="2251075" h="629919">
                  <a:moveTo>
                    <a:pt x="626351" y="518160"/>
                  </a:moveTo>
                  <a:lnTo>
                    <a:pt x="624827" y="516636"/>
                  </a:lnTo>
                  <a:lnTo>
                    <a:pt x="623316" y="516636"/>
                  </a:lnTo>
                  <a:lnTo>
                    <a:pt x="621792" y="518160"/>
                  </a:lnTo>
                  <a:lnTo>
                    <a:pt x="621792" y="553212"/>
                  </a:lnTo>
                  <a:lnTo>
                    <a:pt x="626351" y="553212"/>
                  </a:lnTo>
                  <a:lnTo>
                    <a:pt x="626351" y="518160"/>
                  </a:lnTo>
                  <a:close/>
                </a:path>
                <a:path w="2251075" h="629919">
                  <a:moveTo>
                    <a:pt x="626351" y="461772"/>
                  </a:moveTo>
                  <a:lnTo>
                    <a:pt x="621792" y="461772"/>
                  </a:lnTo>
                  <a:lnTo>
                    <a:pt x="621792" y="496824"/>
                  </a:lnTo>
                  <a:lnTo>
                    <a:pt x="623316" y="498348"/>
                  </a:lnTo>
                  <a:lnTo>
                    <a:pt x="624827" y="498348"/>
                  </a:lnTo>
                  <a:lnTo>
                    <a:pt x="626351" y="496824"/>
                  </a:lnTo>
                  <a:lnTo>
                    <a:pt x="626351" y="461772"/>
                  </a:lnTo>
                  <a:close/>
                </a:path>
                <a:path w="2251075" h="629919">
                  <a:moveTo>
                    <a:pt x="626351" y="406908"/>
                  </a:moveTo>
                  <a:lnTo>
                    <a:pt x="624827" y="405384"/>
                  </a:lnTo>
                  <a:lnTo>
                    <a:pt x="623316" y="405384"/>
                  </a:lnTo>
                  <a:lnTo>
                    <a:pt x="621792" y="406908"/>
                  </a:lnTo>
                  <a:lnTo>
                    <a:pt x="621792" y="441960"/>
                  </a:lnTo>
                  <a:lnTo>
                    <a:pt x="623316" y="443484"/>
                  </a:lnTo>
                  <a:lnTo>
                    <a:pt x="624827" y="443484"/>
                  </a:lnTo>
                  <a:lnTo>
                    <a:pt x="626351" y="441960"/>
                  </a:lnTo>
                  <a:lnTo>
                    <a:pt x="626351" y="406908"/>
                  </a:lnTo>
                  <a:close/>
                </a:path>
                <a:path w="2251075" h="629919">
                  <a:moveTo>
                    <a:pt x="626351" y="350520"/>
                  </a:moveTo>
                  <a:lnTo>
                    <a:pt x="621792" y="350520"/>
                  </a:lnTo>
                  <a:lnTo>
                    <a:pt x="621792" y="385572"/>
                  </a:lnTo>
                  <a:lnTo>
                    <a:pt x="623316" y="387096"/>
                  </a:lnTo>
                  <a:lnTo>
                    <a:pt x="624827" y="387096"/>
                  </a:lnTo>
                  <a:lnTo>
                    <a:pt x="626351" y="385572"/>
                  </a:lnTo>
                  <a:lnTo>
                    <a:pt x="626351" y="350520"/>
                  </a:lnTo>
                  <a:close/>
                </a:path>
                <a:path w="2251075" h="629919">
                  <a:moveTo>
                    <a:pt x="626351" y="295656"/>
                  </a:moveTo>
                  <a:lnTo>
                    <a:pt x="624827" y="294132"/>
                  </a:lnTo>
                  <a:lnTo>
                    <a:pt x="623316" y="294132"/>
                  </a:lnTo>
                  <a:lnTo>
                    <a:pt x="621792" y="295656"/>
                  </a:lnTo>
                  <a:lnTo>
                    <a:pt x="621792" y="330708"/>
                  </a:lnTo>
                  <a:lnTo>
                    <a:pt x="623316" y="332232"/>
                  </a:lnTo>
                  <a:lnTo>
                    <a:pt x="624827" y="332232"/>
                  </a:lnTo>
                  <a:lnTo>
                    <a:pt x="626351" y="330708"/>
                  </a:lnTo>
                  <a:lnTo>
                    <a:pt x="626351" y="295656"/>
                  </a:lnTo>
                  <a:close/>
                </a:path>
                <a:path w="2251075" h="629919">
                  <a:moveTo>
                    <a:pt x="626351" y="240792"/>
                  </a:moveTo>
                  <a:lnTo>
                    <a:pt x="624827" y="239268"/>
                  </a:lnTo>
                  <a:lnTo>
                    <a:pt x="623316" y="239268"/>
                  </a:lnTo>
                  <a:lnTo>
                    <a:pt x="621792" y="240792"/>
                  </a:lnTo>
                  <a:lnTo>
                    <a:pt x="621792" y="275844"/>
                  </a:lnTo>
                  <a:lnTo>
                    <a:pt x="626351" y="275844"/>
                  </a:lnTo>
                  <a:lnTo>
                    <a:pt x="626351" y="240792"/>
                  </a:lnTo>
                  <a:close/>
                </a:path>
                <a:path w="2251075" h="629919">
                  <a:moveTo>
                    <a:pt x="626351" y="184404"/>
                  </a:moveTo>
                  <a:lnTo>
                    <a:pt x="621792" y="184404"/>
                  </a:lnTo>
                  <a:lnTo>
                    <a:pt x="621792" y="219456"/>
                  </a:lnTo>
                  <a:lnTo>
                    <a:pt x="623316" y="220980"/>
                  </a:lnTo>
                  <a:lnTo>
                    <a:pt x="624827" y="220980"/>
                  </a:lnTo>
                  <a:lnTo>
                    <a:pt x="626351" y="219456"/>
                  </a:lnTo>
                  <a:lnTo>
                    <a:pt x="626351" y="184404"/>
                  </a:lnTo>
                  <a:close/>
                </a:path>
                <a:path w="2251075" h="629919">
                  <a:moveTo>
                    <a:pt x="626351" y="129540"/>
                  </a:moveTo>
                  <a:lnTo>
                    <a:pt x="624827" y="128016"/>
                  </a:lnTo>
                  <a:lnTo>
                    <a:pt x="623316" y="128016"/>
                  </a:lnTo>
                  <a:lnTo>
                    <a:pt x="621792" y="129540"/>
                  </a:lnTo>
                  <a:lnTo>
                    <a:pt x="621792" y="164592"/>
                  </a:lnTo>
                  <a:lnTo>
                    <a:pt x="626351" y="164592"/>
                  </a:lnTo>
                  <a:lnTo>
                    <a:pt x="626351" y="129540"/>
                  </a:lnTo>
                  <a:close/>
                </a:path>
                <a:path w="2251075" h="629919">
                  <a:moveTo>
                    <a:pt x="626351" y="73152"/>
                  </a:moveTo>
                  <a:lnTo>
                    <a:pt x="621792" y="73152"/>
                  </a:lnTo>
                  <a:lnTo>
                    <a:pt x="621792" y="108204"/>
                  </a:lnTo>
                  <a:lnTo>
                    <a:pt x="623316" y="109728"/>
                  </a:lnTo>
                  <a:lnTo>
                    <a:pt x="624827" y="109728"/>
                  </a:lnTo>
                  <a:lnTo>
                    <a:pt x="626351" y="108204"/>
                  </a:lnTo>
                  <a:lnTo>
                    <a:pt x="626351" y="73152"/>
                  </a:lnTo>
                  <a:close/>
                </a:path>
                <a:path w="2251075" h="629919">
                  <a:moveTo>
                    <a:pt x="626351" y="18288"/>
                  </a:moveTo>
                  <a:lnTo>
                    <a:pt x="624827" y="16764"/>
                  </a:lnTo>
                  <a:lnTo>
                    <a:pt x="623316" y="16764"/>
                  </a:lnTo>
                  <a:lnTo>
                    <a:pt x="621792" y="18288"/>
                  </a:lnTo>
                  <a:lnTo>
                    <a:pt x="621792" y="53340"/>
                  </a:lnTo>
                  <a:lnTo>
                    <a:pt x="623316" y="54864"/>
                  </a:lnTo>
                  <a:lnTo>
                    <a:pt x="624827" y="54864"/>
                  </a:lnTo>
                  <a:lnTo>
                    <a:pt x="626351" y="53340"/>
                  </a:lnTo>
                  <a:lnTo>
                    <a:pt x="626351" y="18288"/>
                  </a:lnTo>
                  <a:close/>
                </a:path>
                <a:path w="2251075" h="629919">
                  <a:moveTo>
                    <a:pt x="1438656" y="629412"/>
                  </a:moveTo>
                  <a:lnTo>
                    <a:pt x="1437132" y="627888"/>
                  </a:lnTo>
                  <a:lnTo>
                    <a:pt x="1435608" y="627888"/>
                  </a:lnTo>
                  <a:lnTo>
                    <a:pt x="1434084" y="629412"/>
                  </a:lnTo>
                  <a:lnTo>
                    <a:pt x="1438656" y="629412"/>
                  </a:lnTo>
                  <a:close/>
                </a:path>
                <a:path w="2251075" h="629919">
                  <a:moveTo>
                    <a:pt x="1438656" y="573024"/>
                  </a:moveTo>
                  <a:lnTo>
                    <a:pt x="1437132" y="571500"/>
                  </a:lnTo>
                  <a:lnTo>
                    <a:pt x="1435608" y="571500"/>
                  </a:lnTo>
                  <a:lnTo>
                    <a:pt x="1434084" y="573024"/>
                  </a:lnTo>
                  <a:lnTo>
                    <a:pt x="1434084" y="608076"/>
                  </a:lnTo>
                  <a:lnTo>
                    <a:pt x="1435608" y="609600"/>
                  </a:lnTo>
                  <a:lnTo>
                    <a:pt x="1437132" y="609600"/>
                  </a:lnTo>
                  <a:lnTo>
                    <a:pt x="1438656" y="608076"/>
                  </a:lnTo>
                  <a:lnTo>
                    <a:pt x="1438656" y="573024"/>
                  </a:lnTo>
                  <a:close/>
                </a:path>
                <a:path w="2251075" h="629919">
                  <a:moveTo>
                    <a:pt x="1438656" y="518160"/>
                  </a:moveTo>
                  <a:lnTo>
                    <a:pt x="1437132" y="516636"/>
                  </a:lnTo>
                  <a:lnTo>
                    <a:pt x="1435608" y="516636"/>
                  </a:lnTo>
                  <a:lnTo>
                    <a:pt x="1434084" y="518160"/>
                  </a:lnTo>
                  <a:lnTo>
                    <a:pt x="1434084" y="553212"/>
                  </a:lnTo>
                  <a:lnTo>
                    <a:pt x="1438656" y="553212"/>
                  </a:lnTo>
                  <a:lnTo>
                    <a:pt x="1438656" y="518160"/>
                  </a:lnTo>
                  <a:close/>
                </a:path>
                <a:path w="2251075" h="629919">
                  <a:moveTo>
                    <a:pt x="1438656" y="461772"/>
                  </a:moveTo>
                  <a:lnTo>
                    <a:pt x="1434084" y="461772"/>
                  </a:lnTo>
                  <a:lnTo>
                    <a:pt x="1434084" y="496824"/>
                  </a:lnTo>
                  <a:lnTo>
                    <a:pt x="1435608" y="498348"/>
                  </a:lnTo>
                  <a:lnTo>
                    <a:pt x="1437132" y="498348"/>
                  </a:lnTo>
                  <a:lnTo>
                    <a:pt x="1438656" y="496824"/>
                  </a:lnTo>
                  <a:lnTo>
                    <a:pt x="1438656" y="461772"/>
                  </a:lnTo>
                  <a:close/>
                </a:path>
                <a:path w="2251075" h="629919">
                  <a:moveTo>
                    <a:pt x="1438656" y="406908"/>
                  </a:moveTo>
                  <a:lnTo>
                    <a:pt x="1437132" y="405384"/>
                  </a:lnTo>
                  <a:lnTo>
                    <a:pt x="1435608" y="405384"/>
                  </a:lnTo>
                  <a:lnTo>
                    <a:pt x="1434084" y="406908"/>
                  </a:lnTo>
                  <a:lnTo>
                    <a:pt x="1434084" y="441960"/>
                  </a:lnTo>
                  <a:lnTo>
                    <a:pt x="1435608" y="443484"/>
                  </a:lnTo>
                  <a:lnTo>
                    <a:pt x="1437132" y="443484"/>
                  </a:lnTo>
                  <a:lnTo>
                    <a:pt x="1438656" y="441960"/>
                  </a:lnTo>
                  <a:lnTo>
                    <a:pt x="1438656" y="406908"/>
                  </a:lnTo>
                  <a:close/>
                </a:path>
                <a:path w="2251075" h="629919">
                  <a:moveTo>
                    <a:pt x="1438656" y="350520"/>
                  </a:moveTo>
                  <a:lnTo>
                    <a:pt x="1434084" y="350520"/>
                  </a:lnTo>
                  <a:lnTo>
                    <a:pt x="1434084" y="385572"/>
                  </a:lnTo>
                  <a:lnTo>
                    <a:pt x="1435608" y="387096"/>
                  </a:lnTo>
                  <a:lnTo>
                    <a:pt x="1437132" y="387096"/>
                  </a:lnTo>
                  <a:lnTo>
                    <a:pt x="1438656" y="385572"/>
                  </a:lnTo>
                  <a:lnTo>
                    <a:pt x="1438656" y="350520"/>
                  </a:lnTo>
                  <a:close/>
                </a:path>
                <a:path w="2251075" h="629919">
                  <a:moveTo>
                    <a:pt x="1438656" y="295656"/>
                  </a:moveTo>
                  <a:lnTo>
                    <a:pt x="1437132" y="294132"/>
                  </a:lnTo>
                  <a:lnTo>
                    <a:pt x="1435608" y="294132"/>
                  </a:lnTo>
                  <a:lnTo>
                    <a:pt x="1434084" y="295656"/>
                  </a:lnTo>
                  <a:lnTo>
                    <a:pt x="1434084" y="330708"/>
                  </a:lnTo>
                  <a:lnTo>
                    <a:pt x="1435608" y="332232"/>
                  </a:lnTo>
                  <a:lnTo>
                    <a:pt x="1437132" y="332232"/>
                  </a:lnTo>
                  <a:lnTo>
                    <a:pt x="1438656" y="330708"/>
                  </a:lnTo>
                  <a:lnTo>
                    <a:pt x="1438656" y="295656"/>
                  </a:lnTo>
                  <a:close/>
                </a:path>
                <a:path w="2251075" h="629919">
                  <a:moveTo>
                    <a:pt x="1438656" y="240792"/>
                  </a:moveTo>
                  <a:lnTo>
                    <a:pt x="1437132" y="239268"/>
                  </a:lnTo>
                  <a:lnTo>
                    <a:pt x="1435608" y="239268"/>
                  </a:lnTo>
                  <a:lnTo>
                    <a:pt x="1434084" y="240792"/>
                  </a:lnTo>
                  <a:lnTo>
                    <a:pt x="1434084" y="275844"/>
                  </a:lnTo>
                  <a:lnTo>
                    <a:pt x="1438656" y="275844"/>
                  </a:lnTo>
                  <a:lnTo>
                    <a:pt x="1438656" y="240792"/>
                  </a:lnTo>
                  <a:close/>
                </a:path>
                <a:path w="2251075" h="629919">
                  <a:moveTo>
                    <a:pt x="1438656" y="184404"/>
                  </a:moveTo>
                  <a:lnTo>
                    <a:pt x="1434084" y="184404"/>
                  </a:lnTo>
                  <a:lnTo>
                    <a:pt x="1434084" y="219456"/>
                  </a:lnTo>
                  <a:lnTo>
                    <a:pt x="1435608" y="220980"/>
                  </a:lnTo>
                  <a:lnTo>
                    <a:pt x="1437132" y="220980"/>
                  </a:lnTo>
                  <a:lnTo>
                    <a:pt x="1438656" y="219456"/>
                  </a:lnTo>
                  <a:lnTo>
                    <a:pt x="1438656" y="184404"/>
                  </a:lnTo>
                  <a:close/>
                </a:path>
                <a:path w="2251075" h="629919">
                  <a:moveTo>
                    <a:pt x="1438656" y="129540"/>
                  </a:moveTo>
                  <a:lnTo>
                    <a:pt x="1437132" y="128016"/>
                  </a:lnTo>
                  <a:lnTo>
                    <a:pt x="1435608" y="128016"/>
                  </a:lnTo>
                  <a:lnTo>
                    <a:pt x="1434084" y="129540"/>
                  </a:lnTo>
                  <a:lnTo>
                    <a:pt x="1434084" y="164592"/>
                  </a:lnTo>
                  <a:lnTo>
                    <a:pt x="1438656" y="164592"/>
                  </a:lnTo>
                  <a:lnTo>
                    <a:pt x="1438656" y="129540"/>
                  </a:lnTo>
                  <a:close/>
                </a:path>
                <a:path w="2251075" h="629919">
                  <a:moveTo>
                    <a:pt x="1438656" y="73152"/>
                  </a:moveTo>
                  <a:lnTo>
                    <a:pt x="1434084" y="73152"/>
                  </a:lnTo>
                  <a:lnTo>
                    <a:pt x="1434084" y="108204"/>
                  </a:lnTo>
                  <a:lnTo>
                    <a:pt x="1435608" y="109728"/>
                  </a:lnTo>
                  <a:lnTo>
                    <a:pt x="1437132" y="109728"/>
                  </a:lnTo>
                  <a:lnTo>
                    <a:pt x="1438656" y="108204"/>
                  </a:lnTo>
                  <a:lnTo>
                    <a:pt x="1438656" y="73152"/>
                  </a:lnTo>
                  <a:close/>
                </a:path>
                <a:path w="2251075" h="629919">
                  <a:moveTo>
                    <a:pt x="1438656" y="18288"/>
                  </a:moveTo>
                  <a:lnTo>
                    <a:pt x="1437132" y="16764"/>
                  </a:lnTo>
                  <a:lnTo>
                    <a:pt x="1435608" y="16764"/>
                  </a:lnTo>
                  <a:lnTo>
                    <a:pt x="1434084" y="18288"/>
                  </a:lnTo>
                  <a:lnTo>
                    <a:pt x="1434084" y="53340"/>
                  </a:lnTo>
                  <a:lnTo>
                    <a:pt x="1435608" y="54864"/>
                  </a:lnTo>
                  <a:lnTo>
                    <a:pt x="1437132" y="54864"/>
                  </a:lnTo>
                  <a:lnTo>
                    <a:pt x="1438656" y="53340"/>
                  </a:lnTo>
                  <a:lnTo>
                    <a:pt x="1438656" y="18288"/>
                  </a:lnTo>
                  <a:close/>
                </a:path>
                <a:path w="2251075" h="629919">
                  <a:moveTo>
                    <a:pt x="1627632" y="612648"/>
                  </a:moveTo>
                  <a:lnTo>
                    <a:pt x="1626108" y="611124"/>
                  </a:lnTo>
                  <a:lnTo>
                    <a:pt x="1624584" y="611124"/>
                  </a:lnTo>
                  <a:lnTo>
                    <a:pt x="1623060" y="612648"/>
                  </a:lnTo>
                  <a:lnTo>
                    <a:pt x="1623060" y="629412"/>
                  </a:lnTo>
                  <a:lnTo>
                    <a:pt x="1627632" y="629412"/>
                  </a:lnTo>
                  <a:lnTo>
                    <a:pt x="1627632" y="612648"/>
                  </a:lnTo>
                  <a:close/>
                </a:path>
                <a:path w="2251075" h="629919">
                  <a:moveTo>
                    <a:pt x="1627632" y="556260"/>
                  </a:moveTo>
                  <a:lnTo>
                    <a:pt x="1626108" y="554736"/>
                  </a:lnTo>
                  <a:lnTo>
                    <a:pt x="1624584" y="554736"/>
                  </a:lnTo>
                  <a:lnTo>
                    <a:pt x="1623060" y="556260"/>
                  </a:lnTo>
                  <a:lnTo>
                    <a:pt x="1623060" y="591312"/>
                  </a:lnTo>
                  <a:lnTo>
                    <a:pt x="1624584" y="592836"/>
                  </a:lnTo>
                  <a:lnTo>
                    <a:pt x="1626108" y="592836"/>
                  </a:lnTo>
                  <a:lnTo>
                    <a:pt x="1627632" y="591312"/>
                  </a:lnTo>
                  <a:lnTo>
                    <a:pt x="1627632" y="556260"/>
                  </a:lnTo>
                  <a:close/>
                </a:path>
                <a:path w="2251075" h="629919">
                  <a:moveTo>
                    <a:pt x="1627632" y="501396"/>
                  </a:moveTo>
                  <a:lnTo>
                    <a:pt x="1626108" y="499872"/>
                  </a:lnTo>
                  <a:lnTo>
                    <a:pt x="1624584" y="499872"/>
                  </a:lnTo>
                  <a:lnTo>
                    <a:pt x="1623060" y="501396"/>
                  </a:lnTo>
                  <a:lnTo>
                    <a:pt x="1623060" y="536448"/>
                  </a:lnTo>
                  <a:lnTo>
                    <a:pt x="1627632" y="536448"/>
                  </a:lnTo>
                  <a:lnTo>
                    <a:pt x="1627632" y="501396"/>
                  </a:lnTo>
                  <a:close/>
                </a:path>
                <a:path w="2251075" h="629919">
                  <a:moveTo>
                    <a:pt x="1627632" y="445008"/>
                  </a:moveTo>
                  <a:lnTo>
                    <a:pt x="1623060" y="445008"/>
                  </a:lnTo>
                  <a:lnTo>
                    <a:pt x="1623060" y="480060"/>
                  </a:lnTo>
                  <a:lnTo>
                    <a:pt x="1624584" y="481584"/>
                  </a:lnTo>
                  <a:lnTo>
                    <a:pt x="1626108" y="481584"/>
                  </a:lnTo>
                  <a:lnTo>
                    <a:pt x="1627632" y="480060"/>
                  </a:lnTo>
                  <a:lnTo>
                    <a:pt x="1627632" y="445008"/>
                  </a:lnTo>
                  <a:close/>
                </a:path>
                <a:path w="2251075" h="629919">
                  <a:moveTo>
                    <a:pt x="1627632" y="390144"/>
                  </a:moveTo>
                  <a:lnTo>
                    <a:pt x="1626108" y="388620"/>
                  </a:lnTo>
                  <a:lnTo>
                    <a:pt x="1624584" y="388620"/>
                  </a:lnTo>
                  <a:lnTo>
                    <a:pt x="1623060" y="390144"/>
                  </a:lnTo>
                  <a:lnTo>
                    <a:pt x="1623060" y="425196"/>
                  </a:lnTo>
                  <a:lnTo>
                    <a:pt x="1627632" y="425196"/>
                  </a:lnTo>
                  <a:lnTo>
                    <a:pt x="1627632" y="390144"/>
                  </a:lnTo>
                  <a:close/>
                </a:path>
                <a:path w="2251075" h="629919">
                  <a:moveTo>
                    <a:pt x="1627632" y="333756"/>
                  </a:moveTo>
                  <a:lnTo>
                    <a:pt x="1623060" y="333756"/>
                  </a:lnTo>
                  <a:lnTo>
                    <a:pt x="1623060" y="368808"/>
                  </a:lnTo>
                  <a:lnTo>
                    <a:pt x="1624584" y="370332"/>
                  </a:lnTo>
                  <a:lnTo>
                    <a:pt x="1626108" y="370332"/>
                  </a:lnTo>
                  <a:lnTo>
                    <a:pt x="1627632" y="368808"/>
                  </a:lnTo>
                  <a:lnTo>
                    <a:pt x="1627632" y="333756"/>
                  </a:lnTo>
                  <a:close/>
                </a:path>
                <a:path w="2251075" h="629919">
                  <a:moveTo>
                    <a:pt x="1627632" y="278892"/>
                  </a:moveTo>
                  <a:lnTo>
                    <a:pt x="1626108" y="277368"/>
                  </a:lnTo>
                  <a:lnTo>
                    <a:pt x="1624584" y="277368"/>
                  </a:lnTo>
                  <a:lnTo>
                    <a:pt x="1623060" y="278892"/>
                  </a:lnTo>
                  <a:lnTo>
                    <a:pt x="1623060" y="313944"/>
                  </a:lnTo>
                  <a:lnTo>
                    <a:pt x="1624584" y="315468"/>
                  </a:lnTo>
                  <a:lnTo>
                    <a:pt x="1626108" y="315468"/>
                  </a:lnTo>
                  <a:lnTo>
                    <a:pt x="1627632" y="313944"/>
                  </a:lnTo>
                  <a:lnTo>
                    <a:pt x="1627632" y="278892"/>
                  </a:lnTo>
                  <a:close/>
                </a:path>
                <a:path w="2251075" h="629919">
                  <a:moveTo>
                    <a:pt x="1627632" y="224028"/>
                  </a:moveTo>
                  <a:lnTo>
                    <a:pt x="1626108" y="222504"/>
                  </a:lnTo>
                  <a:lnTo>
                    <a:pt x="1624584" y="222504"/>
                  </a:lnTo>
                  <a:lnTo>
                    <a:pt x="1623060" y="224028"/>
                  </a:lnTo>
                  <a:lnTo>
                    <a:pt x="1623060" y="259080"/>
                  </a:lnTo>
                  <a:lnTo>
                    <a:pt x="1627632" y="259080"/>
                  </a:lnTo>
                  <a:lnTo>
                    <a:pt x="1627632" y="224028"/>
                  </a:lnTo>
                  <a:close/>
                </a:path>
                <a:path w="2251075" h="629919">
                  <a:moveTo>
                    <a:pt x="1627632" y="167640"/>
                  </a:moveTo>
                  <a:lnTo>
                    <a:pt x="1623060" y="167640"/>
                  </a:lnTo>
                  <a:lnTo>
                    <a:pt x="1623060" y="202692"/>
                  </a:lnTo>
                  <a:lnTo>
                    <a:pt x="1624584" y="204216"/>
                  </a:lnTo>
                  <a:lnTo>
                    <a:pt x="1626108" y="204216"/>
                  </a:lnTo>
                  <a:lnTo>
                    <a:pt x="1627632" y="202692"/>
                  </a:lnTo>
                  <a:lnTo>
                    <a:pt x="1627632" y="167640"/>
                  </a:lnTo>
                  <a:close/>
                </a:path>
                <a:path w="2251075" h="629919">
                  <a:moveTo>
                    <a:pt x="1627632" y="112776"/>
                  </a:moveTo>
                  <a:lnTo>
                    <a:pt x="1626108" y="111252"/>
                  </a:lnTo>
                  <a:lnTo>
                    <a:pt x="1624584" y="111252"/>
                  </a:lnTo>
                  <a:lnTo>
                    <a:pt x="1623060" y="112776"/>
                  </a:lnTo>
                  <a:lnTo>
                    <a:pt x="1623060" y="147828"/>
                  </a:lnTo>
                  <a:lnTo>
                    <a:pt x="1627632" y="147828"/>
                  </a:lnTo>
                  <a:lnTo>
                    <a:pt x="1627632" y="112776"/>
                  </a:lnTo>
                  <a:close/>
                </a:path>
                <a:path w="2251075" h="629919">
                  <a:moveTo>
                    <a:pt x="1627632" y="56388"/>
                  </a:moveTo>
                  <a:lnTo>
                    <a:pt x="1623060" y="56388"/>
                  </a:lnTo>
                  <a:lnTo>
                    <a:pt x="1623060" y="91440"/>
                  </a:lnTo>
                  <a:lnTo>
                    <a:pt x="1624584" y="92964"/>
                  </a:lnTo>
                  <a:lnTo>
                    <a:pt x="1626108" y="92964"/>
                  </a:lnTo>
                  <a:lnTo>
                    <a:pt x="1627632" y="91440"/>
                  </a:lnTo>
                  <a:lnTo>
                    <a:pt x="1627632" y="56388"/>
                  </a:lnTo>
                  <a:close/>
                </a:path>
                <a:path w="2251075" h="629919">
                  <a:moveTo>
                    <a:pt x="1627632" y="1524"/>
                  </a:moveTo>
                  <a:lnTo>
                    <a:pt x="1626108" y="0"/>
                  </a:lnTo>
                  <a:lnTo>
                    <a:pt x="1624584" y="0"/>
                  </a:lnTo>
                  <a:lnTo>
                    <a:pt x="1623060" y="1524"/>
                  </a:lnTo>
                  <a:lnTo>
                    <a:pt x="1623060" y="36576"/>
                  </a:lnTo>
                  <a:lnTo>
                    <a:pt x="1624584" y="38100"/>
                  </a:lnTo>
                  <a:lnTo>
                    <a:pt x="1626108" y="38100"/>
                  </a:lnTo>
                  <a:lnTo>
                    <a:pt x="1627632" y="36576"/>
                  </a:lnTo>
                  <a:lnTo>
                    <a:pt x="1627632" y="1524"/>
                  </a:lnTo>
                  <a:close/>
                </a:path>
                <a:path w="2251075" h="629919">
                  <a:moveTo>
                    <a:pt x="2250948" y="617220"/>
                  </a:moveTo>
                  <a:lnTo>
                    <a:pt x="2246376" y="617220"/>
                  </a:lnTo>
                  <a:lnTo>
                    <a:pt x="2246376" y="629412"/>
                  </a:lnTo>
                  <a:lnTo>
                    <a:pt x="2250948" y="629412"/>
                  </a:lnTo>
                  <a:lnTo>
                    <a:pt x="2250948" y="617220"/>
                  </a:lnTo>
                  <a:close/>
                </a:path>
                <a:path w="2251075" h="629919">
                  <a:moveTo>
                    <a:pt x="2250948" y="562356"/>
                  </a:moveTo>
                  <a:lnTo>
                    <a:pt x="2249424" y="560832"/>
                  </a:lnTo>
                  <a:lnTo>
                    <a:pt x="2246376" y="560832"/>
                  </a:lnTo>
                  <a:lnTo>
                    <a:pt x="2246376" y="598932"/>
                  </a:lnTo>
                  <a:lnTo>
                    <a:pt x="2249424" y="598932"/>
                  </a:lnTo>
                  <a:lnTo>
                    <a:pt x="2250948" y="597408"/>
                  </a:lnTo>
                  <a:lnTo>
                    <a:pt x="2250948" y="562356"/>
                  </a:lnTo>
                  <a:close/>
                </a:path>
                <a:path w="2251075" h="629919">
                  <a:moveTo>
                    <a:pt x="2250948" y="507492"/>
                  </a:moveTo>
                  <a:lnTo>
                    <a:pt x="2249424" y="505968"/>
                  </a:lnTo>
                  <a:lnTo>
                    <a:pt x="2246376" y="505968"/>
                  </a:lnTo>
                  <a:lnTo>
                    <a:pt x="2246376" y="542544"/>
                  </a:lnTo>
                  <a:lnTo>
                    <a:pt x="2249424" y="542544"/>
                  </a:lnTo>
                  <a:lnTo>
                    <a:pt x="2250948" y="541020"/>
                  </a:lnTo>
                  <a:lnTo>
                    <a:pt x="2250948" y="507492"/>
                  </a:lnTo>
                  <a:close/>
                </a:path>
                <a:path w="2251075" h="629919">
                  <a:moveTo>
                    <a:pt x="2250948" y="451104"/>
                  </a:moveTo>
                  <a:lnTo>
                    <a:pt x="2249424" y="449580"/>
                  </a:lnTo>
                  <a:lnTo>
                    <a:pt x="2246376" y="449580"/>
                  </a:lnTo>
                  <a:lnTo>
                    <a:pt x="2246376" y="487680"/>
                  </a:lnTo>
                  <a:lnTo>
                    <a:pt x="2249424" y="487680"/>
                  </a:lnTo>
                  <a:lnTo>
                    <a:pt x="2250948" y="486156"/>
                  </a:lnTo>
                  <a:lnTo>
                    <a:pt x="2250948" y="451104"/>
                  </a:lnTo>
                  <a:close/>
                </a:path>
                <a:path w="2251075" h="629919">
                  <a:moveTo>
                    <a:pt x="2250948" y="396240"/>
                  </a:moveTo>
                  <a:lnTo>
                    <a:pt x="2249424" y="394716"/>
                  </a:lnTo>
                  <a:lnTo>
                    <a:pt x="2246376" y="394716"/>
                  </a:lnTo>
                  <a:lnTo>
                    <a:pt x="2246376" y="431292"/>
                  </a:lnTo>
                  <a:lnTo>
                    <a:pt x="2250948" y="431292"/>
                  </a:lnTo>
                  <a:lnTo>
                    <a:pt x="2250948" y="396240"/>
                  </a:lnTo>
                  <a:close/>
                </a:path>
                <a:path w="2251075" h="629919">
                  <a:moveTo>
                    <a:pt x="2250948" y="339852"/>
                  </a:moveTo>
                  <a:lnTo>
                    <a:pt x="2246376" y="339852"/>
                  </a:lnTo>
                  <a:lnTo>
                    <a:pt x="2246376" y="376428"/>
                  </a:lnTo>
                  <a:lnTo>
                    <a:pt x="2249424" y="376428"/>
                  </a:lnTo>
                  <a:lnTo>
                    <a:pt x="2250948" y="374904"/>
                  </a:lnTo>
                  <a:lnTo>
                    <a:pt x="2250948" y="339852"/>
                  </a:lnTo>
                  <a:close/>
                </a:path>
                <a:path w="2251075" h="629919">
                  <a:moveTo>
                    <a:pt x="2250948" y="284988"/>
                  </a:moveTo>
                  <a:lnTo>
                    <a:pt x="2249424" y="283464"/>
                  </a:lnTo>
                  <a:lnTo>
                    <a:pt x="2246376" y="283464"/>
                  </a:lnTo>
                  <a:lnTo>
                    <a:pt x="2246376" y="320040"/>
                  </a:lnTo>
                  <a:lnTo>
                    <a:pt x="2250948" y="320040"/>
                  </a:lnTo>
                  <a:lnTo>
                    <a:pt x="2250948" y="284988"/>
                  </a:lnTo>
                  <a:close/>
                </a:path>
                <a:path w="2251075" h="629919">
                  <a:moveTo>
                    <a:pt x="2250948" y="228600"/>
                  </a:moveTo>
                  <a:lnTo>
                    <a:pt x="2246376" y="228600"/>
                  </a:lnTo>
                  <a:lnTo>
                    <a:pt x="2246376" y="265176"/>
                  </a:lnTo>
                  <a:lnTo>
                    <a:pt x="2249424" y="265176"/>
                  </a:lnTo>
                  <a:lnTo>
                    <a:pt x="2250948" y="263652"/>
                  </a:lnTo>
                  <a:lnTo>
                    <a:pt x="2250948" y="228600"/>
                  </a:lnTo>
                  <a:close/>
                </a:path>
                <a:path w="2251075" h="629919">
                  <a:moveTo>
                    <a:pt x="2250948" y="173736"/>
                  </a:moveTo>
                  <a:lnTo>
                    <a:pt x="2249424" y="172212"/>
                  </a:lnTo>
                  <a:lnTo>
                    <a:pt x="2246376" y="172212"/>
                  </a:lnTo>
                  <a:lnTo>
                    <a:pt x="2246376" y="210312"/>
                  </a:lnTo>
                  <a:lnTo>
                    <a:pt x="2249424" y="210312"/>
                  </a:lnTo>
                  <a:lnTo>
                    <a:pt x="2250948" y="208788"/>
                  </a:lnTo>
                  <a:lnTo>
                    <a:pt x="2250948" y="173736"/>
                  </a:lnTo>
                  <a:close/>
                </a:path>
                <a:path w="2251075" h="629919">
                  <a:moveTo>
                    <a:pt x="2250948" y="118872"/>
                  </a:moveTo>
                  <a:lnTo>
                    <a:pt x="2249424" y="117348"/>
                  </a:lnTo>
                  <a:lnTo>
                    <a:pt x="2246376" y="117348"/>
                  </a:lnTo>
                  <a:lnTo>
                    <a:pt x="2246376" y="153924"/>
                  </a:lnTo>
                  <a:lnTo>
                    <a:pt x="2250948" y="153924"/>
                  </a:lnTo>
                  <a:lnTo>
                    <a:pt x="2250948" y="118872"/>
                  </a:lnTo>
                  <a:close/>
                </a:path>
                <a:path w="2251075" h="629919">
                  <a:moveTo>
                    <a:pt x="2250948" y="62484"/>
                  </a:moveTo>
                  <a:lnTo>
                    <a:pt x="2246376" y="62484"/>
                  </a:lnTo>
                  <a:lnTo>
                    <a:pt x="2246376" y="99060"/>
                  </a:lnTo>
                  <a:lnTo>
                    <a:pt x="2249424" y="99060"/>
                  </a:lnTo>
                  <a:lnTo>
                    <a:pt x="2250948" y="97536"/>
                  </a:lnTo>
                  <a:lnTo>
                    <a:pt x="2250948" y="62484"/>
                  </a:lnTo>
                  <a:close/>
                </a:path>
                <a:path w="2251075" h="629919">
                  <a:moveTo>
                    <a:pt x="2250948" y="7620"/>
                  </a:moveTo>
                  <a:lnTo>
                    <a:pt x="2249424" y="6096"/>
                  </a:lnTo>
                  <a:lnTo>
                    <a:pt x="2246376" y="6096"/>
                  </a:lnTo>
                  <a:lnTo>
                    <a:pt x="2246376" y="42672"/>
                  </a:lnTo>
                  <a:lnTo>
                    <a:pt x="2250948" y="42672"/>
                  </a:lnTo>
                  <a:lnTo>
                    <a:pt x="2250948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836919" y="1106423"/>
              <a:ext cx="2682240" cy="2540"/>
            </a:xfrm>
            <a:custGeom>
              <a:avLst/>
              <a:gdLst/>
              <a:ahLst/>
              <a:cxnLst/>
              <a:rect l="l" t="t" r="r" b="b"/>
              <a:pathLst>
                <a:path w="2682240" h="2540">
                  <a:moveTo>
                    <a:pt x="0" y="0"/>
                  </a:moveTo>
                  <a:lnTo>
                    <a:pt x="2682239" y="2436"/>
                  </a:lnTo>
                </a:path>
              </a:pathLst>
            </a:custGeom>
            <a:ln w="1371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30467" y="560912"/>
              <a:ext cx="618490" cy="550545"/>
            </a:xfrm>
            <a:custGeom>
              <a:avLst/>
              <a:gdLst/>
              <a:ahLst/>
              <a:cxnLst/>
              <a:rect l="l" t="t" r="r" b="b"/>
              <a:pathLst>
                <a:path w="618490" h="550544">
                  <a:moveTo>
                    <a:pt x="617219" y="542463"/>
                  </a:moveTo>
                  <a:lnTo>
                    <a:pt x="618144" y="549090"/>
                  </a:lnTo>
                  <a:lnTo>
                    <a:pt x="617198" y="550404"/>
                  </a:lnTo>
                  <a:lnTo>
                    <a:pt x="614448" y="546797"/>
                  </a:lnTo>
                  <a:lnTo>
                    <a:pt x="609961" y="538659"/>
                  </a:lnTo>
                  <a:lnTo>
                    <a:pt x="603804" y="526382"/>
                  </a:lnTo>
                  <a:lnTo>
                    <a:pt x="596044" y="510355"/>
                  </a:lnTo>
                  <a:lnTo>
                    <a:pt x="586748" y="490971"/>
                  </a:lnTo>
                  <a:lnTo>
                    <a:pt x="575983" y="468619"/>
                  </a:lnTo>
                  <a:lnTo>
                    <a:pt x="550315" y="416578"/>
                  </a:lnTo>
                  <a:lnTo>
                    <a:pt x="519574" y="357357"/>
                  </a:lnTo>
                  <a:lnTo>
                    <a:pt x="484298" y="294086"/>
                  </a:lnTo>
                  <a:lnTo>
                    <a:pt x="445023" y="229889"/>
                  </a:lnTo>
                  <a:lnTo>
                    <a:pt x="402283" y="167893"/>
                  </a:lnTo>
                  <a:lnTo>
                    <a:pt x="356616" y="111227"/>
                  </a:lnTo>
                  <a:lnTo>
                    <a:pt x="308558" y="63016"/>
                  </a:lnTo>
                  <a:lnTo>
                    <a:pt x="258644" y="26387"/>
                  </a:lnTo>
                  <a:lnTo>
                    <a:pt x="207410" y="4467"/>
                  </a:lnTo>
                  <a:lnTo>
                    <a:pt x="181466" y="0"/>
                  </a:lnTo>
                  <a:lnTo>
                    <a:pt x="155393" y="382"/>
                  </a:lnTo>
                  <a:lnTo>
                    <a:pt x="103128" y="17260"/>
                  </a:lnTo>
                  <a:lnTo>
                    <a:pt x="51151" y="58228"/>
                  </a:lnTo>
                  <a:lnTo>
                    <a:pt x="25439" y="88722"/>
                  </a:lnTo>
                  <a:lnTo>
                    <a:pt x="0" y="126411"/>
                  </a:lnTo>
                </a:path>
              </a:pathLst>
            </a:custGeom>
            <a:ln w="2285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30467" y="687323"/>
              <a:ext cx="0" cy="416559"/>
            </a:xfrm>
            <a:custGeom>
              <a:avLst/>
              <a:gdLst/>
              <a:ahLst/>
              <a:cxnLst/>
              <a:rect l="l" t="t" r="r" b="b"/>
              <a:pathLst>
                <a:path h="416559">
                  <a:moveTo>
                    <a:pt x="0" y="0"/>
                  </a:moveTo>
                  <a:lnTo>
                    <a:pt x="0" y="416051"/>
                  </a:lnTo>
                </a:path>
              </a:pathLst>
            </a:custGeom>
            <a:ln w="2285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655051" y="560912"/>
              <a:ext cx="617220" cy="550545"/>
            </a:xfrm>
            <a:custGeom>
              <a:avLst/>
              <a:gdLst/>
              <a:ahLst/>
              <a:cxnLst/>
              <a:rect l="l" t="t" r="r" b="b"/>
              <a:pathLst>
                <a:path w="617220" h="550544">
                  <a:moveTo>
                    <a:pt x="615695" y="542463"/>
                  </a:moveTo>
                  <a:lnTo>
                    <a:pt x="616751" y="549090"/>
                  </a:lnTo>
                  <a:lnTo>
                    <a:pt x="615928" y="550404"/>
                  </a:lnTo>
                  <a:lnTo>
                    <a:pt x="613293" y="546797"/>
                  </a:lnTo>
                  <a:lnTo>
                    <a:pt x="608914" y="538659"/>
                  </a:lnTo>
                  <a:lnTo>
                    <a:pt x="602858" y="526382"/>
                  </a:lnTo>
                  <a:lnTo>
                    <a:pt x="595193" y="510355"/>
                  </a:lnTo>
                  <a:lnTo>
                    <a:pt x="585985" y="490971"/>
                  </a:lnTo>
                  <a:lnTo>
                    <a:pt x="575302" y="468619"/>
                  </a:lnTo>
                  <a:lnTo>
                    <a:pt x="549779" y="416578"/>
                  </a:lnTo>
                  <a:lnTo>
                    <a:pt x="519161" y="357357"/>
                  </a:lnTo>
                  <a:lnTo>
                    <a:pt x="483988" y="294086"/>
                  </a:lnTo>
                  <a:lnTo>
                    <a:pt x="444797" y="229889"/>
                  </a:lnTo>
                  <a:lnTo>
                    <a:pt x="402125" y="167893"/>
                  </a:lnTo>
                  <a:lnTo>
                    <a:pt x="356510" y="111227"/>
                  </a:lnTo>
                  <a:lnTo>
                    <a:pt x="308491" y="63016"/>
                  </a:lnTo>
                  <a:lnTo>
                    <a:pt x="258605" y="26387"/>
                  </a:lnTo>
                  <a:lnTo>
                    <a:pt x="207390" y="4467"/>
                  </a:lnTo>
                  <a:lnTo>
                    <a:pt x="181452" y="0"/>
                  </a:lnTo>
                  <a:lnTo>
                    <a:pt x="155384" y="382"/>
                  </a:lnTo>
                  <a:lnTo>
                    <a:pt x="103125" y="17260"/>
                  </a:lnTo>
                  <a:lnTo>
                    <a:pt x="51151" y="58228"/>
                  </a:lnTo>
                  <a:lnTo>
                    <a:pt x="25439" y="88722"/>
                  </a:lnTo>
                  <a:lnTo>
                    <a:pt x="0" y="126411"/>
                  </a:lnTo>
                </a:path>
              </a:pathLst>
            </a:custGeom>
            <a:ln w="2285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836919" y="687323"/>
              <a:ext cx="2628900" cy="421005"/>
            </a:xfrm>
            <a:custGeom>
              <a:avLst/>
              <a:gdLst/>
              <a:ahLst/>
              <a:cxnLst/>
              <a:rect l="l" t="t" r="r" b="b"/>
              <a:pathLst>
                <a:path w="2628900" h="421005">
                  <a:moveTo>
                    <a:pt x="1818131" y="0"/>
                  </a:moveTo>
                  <a:lnTo>
                    <a:pt x="1818131" y="416051"/>
                  </a:lnTo>
                </a:path>
                <a:path w="2628900" h="421005">
                  <a:moveTo>
                    <a:pt x="0" y="420623"/>
                  </a:moveTo>
                  <a:lnTo>
                    <a:pt x="195071" y="420623"/>
                  </a:lnTo>
                </a:path>
                <a:path w="2628900" h="421005">
                  <a:moveTo>
                    <a:pt x="2433827" y="420623"/>
                  </a:moveTo>
                  <a:lnTo>
                    <a:pt x="2628899" y="420623"/>
                  </a:lnTo>
                </a:path>
                <a:path w="2628900" h="421005">
                  <a:moveTo>
                    <a:pt x="1623059" y="420623"/>
                  </a:moveTo>
                  <a:lnTo>
                    <a:pt x="1818131" y="420623"/>
                  </a:lnTo>
                </a:path>
                <a:path w="2628900" h="421005">
                  <a:moveTo>
                    <a:pt x="810767" y="420623"/>
                  </a:moveTo>
                  <a:lnTo>
                    <a:pt x="1005839" y="420623"/>
                  </a:lnTo>
                </a:path>
                <a:path w="2628900" h="421005">
                  <a:moveTo>
                    <a:pt x="1001267" y="420623"/>
                  </a:moveTo>
                  <a:lnTo>
                    <a:pt x="1623059" y="420623"/>
                  </a:lnTo>
                </a:path>
              </a:pathLst>
            </a:custGeom>
            <a:ln w="2285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467344" y="1096518"/>
              <a:ext cx="52069" cy="22860"/>
            </a:xfrm>
            <a:custGeom>
              <a:avLst/>
              <a:gdLst/>
              <a:ahLst/>
              <a:cxnLst/>
              <a:rect l="l" t="t" r="r" b="b"/>
              <a:pathLst>
                <a:path w="52070" h="22859">
                  <a:moveTo>
                    <a:pt x="0" y="0"/>
                  </a:moveTo>
                  <a:lnTo>
                    <a:pt x="51815" y="0"/>
                  </a:lnTo>
                  <a:lnTo>
                    <a:pt x="51815" y="22860"/>
                  </a:lnTo>
                  <a:lnTo>
                    <a:pt x="0" y="228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14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614"/>
              </a:lnSpc>
            </a:pPr>
            <a:fld id="{81D60167-4931-47E6-BA6A-407CBD079E47}" type="slidenum">
              <a:rPr lang="en-IN" spc="-5" smtClean="0"/>
              <a:t>9</a:t>
            </a:fld>
            <a:endParaRPr lang="en-IN" spc="-5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3" y="342469"/>
            <a:ext cx="9021434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08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614"/>
              </a:lnSpc>
            </a:pPr>
            <a:fld id="{81D60167-4931-47E6-BA6A-407CBD079E47}" type="slidenum">
              <a:rPr lang="en-IN" spc="-5" smtClean="0"/>
              <a:t>10</a:t>
            </a:fld>
            <a:endParaRPr lang="en-IN" spc="-5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36" y="399627"/>
            <a:ext cx="8078327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345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523</Words>
  <Application>Microsoft Office PowerPoint</Application>
  <PresentationFormat>On-screen Show (4:3)</PresentationFormat>
  <Paragraphs>195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 MT</vt:lpstr>
      <vt:lpstr>Calibri</vt:lpstr>
      <vt:lpstr>Calibri Light</vt:lpstr>
      <vt:lpstr>Symbol</vt:lpstr>
      <vt:lpstr>Times New Roman</vt:lpstr>
      <vt:lpstr>Wingdings</vt:lpstr>
      <vt:lpstr>Office Theme</vt:lpstr>
      <vt:lpstr>Power Electronics</vt:lpstr>
      <vt:lpstr>AC Voltage Controllers</vt:lpstr>
      <vt:lpstr>Basic Controller with R Load</vt:lpstr>
      <vt:lpstr>Basic Controller with RL Load</vt:lpstr>
      <vt:lpstr>Full Wave an Half Wave controller</vt:lpstr>
      <vt:lpstr>Controller Types</vt:lpstr>
      <vt:lpstr>Example</vt:lpstr>
      <vt:lpstr>1 cos     2  240 1 cos    4.05A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Electronics</dc:title>
  <dc:creator>HP</dc:creator>
  <cp:lastModifiedBy>Microsoft account</cp:lastModifiedBy>
  <cp:revision>3</cp:revision>
  <dcterms:created xsi:type="dcterms:W3CDTF">2023-09-26T03:25:56Z</dcterms:created>
  <dcterms:modified xsi:type="dcterms:W3CDTF">2023-10-09T04:06:30Z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2019-10-04T00:00:00Z</vt:filetime>
  </property>
  <property fmtid="{D5CDD505-2E9C-101B-9397-08002B2CF9AE}" pid="3" name="LastSaved">
    <vt:filetime>2023-09-26T00:00:00Z</vt:filetime>
  </property>
</Properties>
</file>